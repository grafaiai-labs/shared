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Lst>
  <ns0:sldSz cx="12192000" cy="6858000" type="screen4x3"/>
  <ns0:notesSz cx="6858000" cy="9144000"/>
  <ns0:embeddedFontLst>
    <ns0:embeddedFont>
      <ns0:font typeface="Noto Sans JP"/>
      <ns0:bold ns1:id="rIdFont20"/>
      <ns0:regular ns1:id="rIdFont21"/>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Font20" Type="http://schemas.openxmlformats.org/officeDocument/2006/relationships/font" Target="fonts/b1a0adf5-3efd-492c-add6-0f5b980cb44b.fntdata" /><ns0:Relationship Id="rIdFont21" Type="http://schemas.openxmlformats.org/officeDocument/2006/relationships/font" Target="fonts/c762af0c-e3c2-4cf0-b750-aad74db512e6.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09600" y="5254823"/>
            <a:ext cx="60960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1564927"/>
            <a:ext cx="11582400" cy="200025"/>
          </a:xfrm>
          <a:prstGeom prst="rect">
            <a:avLst/>
          </a:prstGeom>
          <a:noFill/>
        </p:spPr>
        <p:txBody>
          <a:bodyPr wrap="none" lIns="0" rIns="0" tIns="0" bIns="0" anchor="t">
            <a:spAutoFit/>
          </a:bodyPr>
          <a:lstStyle/>
          <a:p>
            <a:pPr algn="l"/>
            <a:r>
              <a:rPr b="1" sz="1350" i="0" u="none">
                <a:solidFill>
                  <a:srgbClr val="38BDF8"/>
                </a:solidFill>
                <a:latin typeface="Noto Sans JP"/>
              </a:rPr>
              <a:t>ARCHITECTURE PROPOSAL</a:t>
            </a:r>
          </a:p>
        </p:txBody>
      </p:sp>
      <p:sp>
        <p:nvSpPr>
          <p:cNvPr id="4" name="TextBox 3"/>
          <p:cNvSpPr txBox="1"/>
          <p:nvPr/>
        </p:nvSpPr>
        <p:spPr>
          <a:xfrm>
            <a:off x="609600" y="1993552"/>
            <a:ext cx="10101262" cy="2194470"/>
          </a:xfrm>
          <a:prstGeom prst="rect">
            <a:avLst/>
          </a:prstGeom>
          <a:noFill/>
        </p:spPr>
        <p:txBody>
          <a:bodyPr wrap="square" lIns="0" rIns="0" tIns="0" bIns="0" anchor="t">
            <a:spAutoFit/>
          </a:bodyPr>
          <a:lstStyle/>
          <a:p>
            <a:pPr algn="l">
              <a:lnSpc>
                <a:spcPts val="5759"/>
              </a:lnSpc>
            </a:pPr>
            <a:r>
              <a:rPr b="1" sz="4800" i="0" u="none">
                <a:solidFill>
                  <a:srgbClr val="F8FAFC"/>
                </a:solidFill>
                <a:latin typeface="Noto Sans JP"/>
              </a:rPr>
              <a:t>構造化・非構造化データを統合する</a:t>
            </a:r>
            <a:r>
              <a:t>
</a:t>
            </a:r>
            <a:r>
              <a:rPr b="1" sz="4800" i="0" u="none">
                <a:solidFill>
                  <a:srgbClr val="F8FAFC"/>
                </a:solidFill>
                <a:latin typeface="Noto Sans JP"/>
              </a:rPr>
              <a:t> 社内RAG基盤アーキテクチャ</a:t>
            </a:r>
          </a:p>
        </p:txBody>
      </p:sp>
      <p:sp>
        <p:nvSpPr>
          <p:cNvPr id="5" name="TextBox 4"/>
          <p:cNvSpPr txBox="1"/>
          <p:nvPr/>
        </p:nvSpPr>
        <p:spPr>
          <a:xfrm>
            <a:off x="609600" y="4492823"/>
            <a:ext cx="9525000" cy="304800"/>
          </a:xfrm>
          <a:prstGeom prst="rect">
            <a:avLst/>
          </a:prstGeom>
          <a:noFill/>
        </p:spPr>
        <p:txBody>
          <a:bodyPr wrap="none" lIns="0" rIns="0" tIns="0" bIns="0" anchor="t">
            <a:spAutoFit/>
          </a:bodyPr>
          <a:lstStyle/>
          <a:p>
            <a:pPr algn="l"/>
            <a:r>
              <a:rPr b="0" sz="1800" i="0" u="none">
                <a:solidFill>
                  <a:srgbClr val="94A3B8"/>
                </a:solidFill>
                <a:latin typeface="Noto Sans JP"/>
              </a:rPr>
              <a:t>Snowflake Cortexを活用したハイブリッド抽出と7つの階層構造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104900"/>
            <a:ext cx="10972800" cy="5295900"/>
          </a:xfrm>
          <a:prstGeom prst="roundRect">
            <a:avLst>
              <a:gd name="adj" fmla="val 2158"/>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3450" y="5562600"/>
            <a:ext cx="10325100" cy="590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457450" y="2847975"/>
            <a:ext cx="1308794" cy="1066800"/>
          </a:xfrm>
          <a:prstGeom prst="roundRect">
            <a:avLst>
              <a:gd name="adj" fmla="val 7142"/>
            </a:avLst>
          </a:prstGeom>
          <a:solidFill>
            <a:srgbClr val="FFFFFF"/>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42544" y="2847975"/>
            <a:ext cx="1308794" cy="1066800"/>
          </a:xfrm>
          <a:prstGeom prst="roundRect">
            <a:avLst>
              <a:gd name="adj" fmla="val 7142"/>
            </a:avLst>
          </a:prstGeom>
          <a:solidFill>
            <a:srgbClr val="FFFFFF"/>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1939" y="2562225"/>
            <a:ext cx="1501973" cy="1638300"/>
          </a:xfrm>
          <a:prstGeom prst="roundRect">
            <a:avLst>
              <a:gd name="adj" fmla="val 5073"/>
            </a:avLst>
          </a:prstGeom>
          <a:solidFill>
            <a:srgbClr val="E0F2FE"/>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3450" y="5562600"/>
            <a:ext cx="10325100"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38350" y="5810250"/>
            <a:ext cx="1279624" cy="342900"/>
          </a:xfrm>
          <a:prstGeom prst="roundRect">
            <a:avLst>
              <a:gd name="adj" fmla="val 1111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41390" y="5810250"/>
            <a:ext cx="2190750" cy="342900"/>
          </a:xfrm>
          <a:prstGeom prst="roundRect">
            <a:avLst>
              <a:gd name="adj" fmla="val 1111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909" y="2200275"/>
            <a:ext cx="1931789" cy="1085850"/>
          </a:xfrm>
          <a:prstGeom prst="roundRect">
            <a:avLst>
              <a:gd name="adj" fmla="val 701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909" y="3438525"/>
            <a:ext cx="1931789" cy="1123950"/>
          </a:xfrm>
          <a:prstGeom prst="roundRect">
            <a:avLst>
              <a:gd name="adj" fmla="val 6779"/>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450734" y="2324100"/>
            <a:ext cx="846832" cy="838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450734" y="3562350"/>
            <a:ext cx="846832" cy="876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288041" y="2324100"/>
            <a:ext cx="9525" cy="838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288041" y="3562350"/>
            <a:ext cx="9525" cy="8763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7016650" y="1295400"/>
            <a:ext cx="118616" cy="152400"/>
          </a:xfrm>
          <a:prstGeom prst="rect">
            <a:avLst/>
          </a:prstGeom>
        </p:spPr>
      </p:pic>
      <p:pic>
        <p:nvPicPr>
          <p:cNvPr id="17" name="Picture 16" descr="image.png"/>
          <p:cNvPicPr>
            <a:picLocks noChangeAspect="1"/>
          </p:cNvPicPr>
          <p:nvPr/>
        </p:nvPicPr>
        <p:blipFill>
          <a:blip r:embed="rId3"/>
          <a:stretch>
            <a:fillRect/>
          </a:stretch>
        </p:blipFill>
        <p:spPr>
          <a:xfrm>
            <a:off x="3470374" y="5905500"/>
            <a:ext cx="118616" cy="152400"/>
          </a:xfrm>
          <a:prstGeom prst="rect">
            <a:avLst/>
          </a:prstGeom>
        </p:spPr>
      </p:pic>
      <p:pic>
        <p:nvPicPr>
          <p:cNvPr id="18" name="Picture 17" descr="image.png"/>
          <p:cNvPicPr>
            <a:picLocks noChangeAspect="1"/>
          </p:cNvPicPr>
          <p:nvPr/>
        </p:nvPicPr>
        <p:blipFill>
          <a:blip r:embed="rId3"/>
          <a:stretch>
            <a:fillRect/>
          </a:stretch>
        </p:blipFill>
        <p:spPr>
          <a:xfrm>
            <a:off x="6084540" y="5905500"/>
            <a:ext cx="118616" cy="152400"/>
          </a:xfrm>
          <a:prstGeom prst="rect">
            <a:avLst/>
          </a:prstGeom>
        </p:spPr>
      </p:pic>
      <p:pic>
        <p:nvPicPr>
          <p:cNvPr id="19" name="Picture 18" descr="image.png"/>
          <p:cNvPicPr>
            <a:picLocks noChangeAspect="1"/>
          </p:cNvPicPr>
          <p:nvPr/>
        </p:nvPicPr>
        <p:blipFill>
          <a:blip r:embed="rId4"/>
          <a:stretch>
            <a:fillRect/>
          </a:stretch>
        </p:blipFill>
        <p:spPr>
          <a:xfrm>
            <a:off x="1166217" y="3067050"/>
            <a:ext cx="296465" cy="381000"/>
          </a:xfrm>
          <a:prstGeom prst="rect">
            <a:avLst/>
          </a:prstGeom>
        </p:spPr>
      </p:pic>
      <p:pic>
        <p:nvPicPr>
          <p:cNvPr id="20" name="Picture 19" descr="image.png"/>
          <p:cNvPicPr>
            <a:picLocks noChangeAspect="1"/>
          </p:cNvPicPr>
          <p:nvPr/>
        </p:nvPicPr>
        <p:blipFill>
          <a:blip r:embed="rId5"/>
          <a:stretch>
            <a:fillRect/>
          </a:stretch>
        </p:blipFill>
        <p:spPr>
          <a:xfrm>
            <a:off x="2031950" y="3405187"/>
            <a:ext cx="88999" cy="114300"/>
          </a:xfrm>
          <a:prstGeom prst="rect">
            <a:avLst/>
          </a:prstGeom>
        </p:spPr>
      </p:pic>
      <p:pic>
        <p:nvPicPr>
          <p:cNvPr id="21" name="Picture 20" descr="image.png"/>
          <p:cNvPicPr>
            <a:picLocks noChangeAspect="1"/>
          </p:cNvPicPr>
          <p:nvPr/>
        </p:nvPicPr>
        <p:blipFill>
          <a:blip r:embed="rId6"/>
          <a:stretch>
            <a:fillRect/>
          </a:stretch>
        </p:blipFill>
        <p:spPr>
          <a:xfrm>
            <a:off x="3022848" y="3267075"/>
            <a:ext cx="177849" cy="228600"/>
          </a:xfrm>
          <a:prstGeom prst="rect">
            <a:avLst/>
          </a:prstGeom>
        </p:spPr>
      </p:pic>
      <p:pic>
        <p:nvPicPr>
          <p:cNvPr id="22" name="Picture 21" descr="image.png"/>
          <p:cNvPicPr>
            <a:picLocks noChangeAspect="1"/>
          </p:cNvPicPr>
          <p:nvPr/>
        </p:nvPicPr>
        <p:blipFill>
          <a:blip r:embed="rId5"/>
          <a:stretch>
            <a:fillRect/>
          </a:stretch>
        </p:blipFill>
        <p:spPr>
          <a:xfrm>
            <a:off x="4159894" y="3405187"/>
            <a:ext cx="88999" cy="114300"/>
          </a:xfrm>
          <a:prstGeom prst="rect">
            <a:avLst/>
          </a:prstGeom>
        </p:spPr>
      </p:pic>
      <p:pic>
        <p:nvPicPr>
          <p:cNvPr id="23" name="Picture 22" descr="image.png"/>
          <p:cNvPicPr>
            <a:picLocks noChangeAspect="1"/>
          </p:cNvPicPr>
          <p:nvPr/>
        </p:nvPicPr>
        <p:blipFill>
          <a:blip r:embed="rId7"/>
          <a:stretch>
            <a:fillRect/>
          </a:stretch>
        </p:blipFill>
        <p:spPr>
          <a:xfrm>
            <a:off x="5207942" y="3267075"/>
            <a:ext cx="177849" cy="228600"/>
          </a:xfrm>
          <a:prstGeom prst="rect">
            <a:avLst/>
          </a:prstGeom>
        </p:spPr>
      </p:pic>
      <p:pic>
        <p:nvPicPr>
          <p:cNvPr id="24" name="Picture 23" descr="image.png"/>
          <p:cNvPicPr>
            <a:picLocks noChangeAspect="1"/>
          </p:cNvPicPr>
          <p:nvPr/>
        </p:nvPicPr>
        <p:blipFill>
          <a:blip r:embed="rId8"/>
          <a:stretch>
            <a:fillRect/>
          </a:stretch>
        </p:blipFill>
        <p:spPr>
          <a:xfrm>
            <a:off x="6402139" y="3405187"/>
            <a:ext cx="88999" cy="114300"/>
          </a:xfrm>
          <a:prstGeom prst="rect">
            <a:avLst/>
          </a:prstGeom>
        </p:spPr>
      </p:pic>
      <p:pic>
        <p:nvPicPr>
          <p:cNvPr id="25" name="Picture 24" descr="image.png"/>
          <p:cNvPicPr>
            <a:picLocks noChangeAspect="1"/>
          </p:cNvPicPr>
          <p:nvPr/>
        </p:nvPicPr>
        <p:blipFill>
          <a:blip r:embed="rId9"/>
          <a:stretch>
            <a:fillRect/>
          </a:stretch>
        </p:blipFill>
        <p:spPr>
          <a:xfrm>
            <a:off x="7574309" y="3228975"/>
            <a:ext cx="237083" cy="304800"/>
          </a:xfrm>
          <a:prstGeom prst="rect">
            <a:avLst/>
          </a:prstGeom>
        </p:spPr>
      </p:pic>
      <p:pic>
        <p:nvPicPr>
          <p:cNvPr id="26" name="Picture 25" descr="image.png"/>
          <p:cNvPicPr>
            <a:picLocks noChangeAspect="1"/>
          </p:cNvPicPr>
          <p:nvPr/>
        </p:nvPicPr>
        <p:blipFill>
          <a:blip r:embed="rId8"/>
          <a:stretch>
            <a:fillRect/>
          </a:stretch>
        </p:blipFill>
        <p:spPr>
          <a:xfrm>
            <a:off x="9085510" y="3162300"/>
            <a:ext cx="88999" cy="114300"/>
          </a:xfrm>
          <a:prstGeom prst="rect">
            <a:avLst/>
          </a:prstGeom>
        </p:spPr>
      </p:pic>
      <p:pic>
        <p:nvPicPr>
          <p:cNvPr id="27" name="Picture 26" descr="image.png"/>
          <p:cNvPicPr>
            <a:picLocks noChangeAspect="1"/>
          </p:cNvPicPr>
          <p:nvPr/>
        </p:nvPicPr>
        <p:blipFill>
          <a:blip r:embed="rId5"/>
          <a:stretch>
            <a:fillRect/>
          </a:stretch>
        </p:blipFill>
        <p:spPr>
          <a:xfrm>
            <a:off x="9085361" y="3476625"/>
            <a:ext cx="88999" cy="114300"/>
          </a:xfrm>
          <a:prstGeom prst="rect">
            <a:avLst/>
          </a:prstGeom>
        </p:spPr>
      </p:pic>
      <p:sp>
        <p:nvSpPr>
          <p:cNvPr id="28" name="TextBox 27"/>
          <p:cNvSpPr txBox="1"/>
          <p:nvPr/>
        </p:nvSpPr>
        <p:spPr>
          <a:xfrm>
            <a:off x="609600" y="4572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システム構成図：ユーザー入力から回答出力までの流れ</a:t>
            </a:r>
          </a:p>
        </p:txBody>
      </p:sp>
      <p:sp>
        <p:nvSpPr>
          <p:cNvPr id="29" name="TextBox 28"/>
          <p:cNvSpPr txBox="1"/>
          <p:nvPr/>
        </p:nvSpPr>
        <p:spPr>
          <a:xfrm>
            <a:off x="7016650" y="1276350"/>
            <a:ext cx="5175349" cy="200025"/>
          </a:xfrm>
          <a:prstGeom prst="rect">
            <a:avLst/>
          </a:prstGeom>
          <a:noFill/>
        </p:spPr>
        <p:txBody>
          <a:bodyPr wrap="none" lIns="194816" rIns="0" tIns="0" bIns="0" anchor="t">
            <a:spAutoFit/>
          </a:bodyPr>
          <a:lstStyle/>
          <a:p>
            <a:pPr algn="l"/>
            <a:r>
              <a:rPr b="1" sz="1200" i="0" u="none">
                <a:solidFill>
                  <a:srgbClr val="0369A1"/>
                </a:solidFill>
                <a:latin typeface="Noto Sans JP"/>
              </a:rPr>
              <a:t>7. セキュリティ・ガバナンス・権限管理層 (全層を一元制御)</a:t>
            </a:r>
          </a:p>
        </p:txBody>
      </p:sp>
      <p:sp>
        <p:nvSpPr>
          <p:cNvPr id="30" name="TextBox 29"/>
          <p:cNvSpPr txBox="1"/>
          <p:nvPr/>
        </p:nvSpPr>
        <p:spPr>
          <a:xfrm>
            <a:off x="933450" y="5895975"/>
            <a:ext cx="1238250" cy="171450"/>
          </a:xfrm>
          <a:prstGeom prst="rect">
            <a:avLst/>
          </a:prstGeom>
          <a:noFill/>
        </p:spPr>
        <p:txBody>
          <a:bodyPr wrap="none" lIns="0" rIns="0" tIns="0" bIns="0" anchor="t">
            <a:spAutoFit/>
          </a:bodyPr>
          <a:lstStyle/>
          <a:p>
            <a:pPr algn="l"/>
            <a:r>
              <a:rPr b="1" sz="1050" i="0" u="none">
                <a:solidFill>
                  <a:srgbClr val="0284C7"/>
                </a:solidFill>
                <a:latin typeface="Noto Sans JP"/>
              </a:rPr>
              <a:t>5. データ処理層</a:t>
            </a:r>
          </a:p>
        </p:txBody>
      </p:sp>
      <p:sp>
        <p:nvSpPr>
          <p:cNvPr id="31" name="TextBox 30"/>
          <p:cNvSpPr txBox="1"/>
          <p:nvPr/>
        </p:nvSpPr>
        <p:spPr>
          <a:xfrm>
            <a:off x="2190750" y="5886450"/>
            <a:ext cx="1070074" cy="190500"/>
          </a:xfrm>
          <a:prstGeom prst="rect">
            <a:avLst/>
          </a:prstGeom>
          <a:noFill/>
        </p:spPr>
        <p:txBody>
          <a:bodyPr wrap="square" lIns="0" rIns="0" tIns="0" bIns="0" anchor="t">
            <a:spAutoFit/>
          </a:bodyPr>
          <a:lstStyle/>
          <a:p>
            <a:pPr algn="l"/>
            <a:r>
              <a:rPr b="1" sz="1050" i="0" u="none">
                <a:solidFill>
                  <a:srgbClr val="0F172A"/>
                </a:solidFill>
                <a:latin typeface="Noto Sans JP"/>
              </a:rPr>
              <a:t>生データ (S3等)</a:t>
            </a:r>
          </a:p>
        </p:txBody>
      </p:sp>
      <p:sp>
        <p:nvSpPr>
          <p:cNvPr id="32" name="TextBox 31"/>
          <p:cNvSpPr txBox="1"/>
          <p:nvPr/>
        </p:nvSpPr>
        <p:spPr>
          <a:xfrm>
            <a:off x="3893790" y="5886450"/>
            <a:ext cx="1981200" cy="190500"/>
          </a:xfrm>
          <a:prstGeom prst="rect">
            <a:avLst/>
          </a:prstGeom>
          <a:noFill/>
        </p:spPr>
        <p:txBody>
          <a:bodyPr wrap="square" lIns="0" rIns="0" tIns="0" bIns="0" anchor="t">
            <a:spAutoFit/>
          </a:bodyPr>
          <a:lstStyle/>
          <a:p>
            <a:pPr algn="l"/>
            <a:r>
              <a:rPr b="1" sz="1050" i="0" u="none">
                <a:solidFill>
                  <a:srgbClr val="0F172A"/>
                </a:solidFill>
                <a:latin typeface="Noto Sans JP"/>
              </a:rPr>
              <a:t>パース・チャンク化・タグ付け</a:t>
            </a:r>
          </a:p>
        </p:txBody>
      </p:sp>
      <p:sp>
        <p:nvSpPr>
          <p:cNvPr id="33" name="TextBox 32"/>
          <p:cNvSpPr txBox="1"/>
          <p:nvPr/>
        </p:nvSpPr>
        <p:spPr>
          <a:xfrm>
            <a:off x="6355556" y="5895975"/>
            <a:ext cx="1833562" cy="171450"/>
          </a:xfrm>
          <a:prstGeom prst="rect">
            <a:avLst/>
          </a:prstGeom>
          <a:noFill/>
        </p:spPr>
        <p:txBody>
          <a:bodyPr wrap="none" lIns="0" rIns="0" tIns="0" bIns="0" anchor="t">
            <a:spAutoFit/>
          </a:bodyPr>
          <a:lstStyle/>
          <a:p>
            <a:pPr algn="l"/>
            <a:r>
              <a:rPr b="1" sz="1050" i="0" u="none">
                <a:solidFill>
                  <a:srgbClr val="64748B"/>
                </a:solidFill>
                <a:latin typeface="Noto Sans JP"/>
              </a:rPr>
              <a:t>ストレージ層へ定期格納</a:t>
            </a:r>
          </a:p>
        </p:txBody>
      </p:sp>
      <p:sp>
        <p:nvSpPr>
          <p:cNvPr id="34" name="TextBox 33"/>
          <p:cNvSpPr txBox="1"/>
          <p:nvPr/>
        </p:nvSpPr>
        <p:spPr>
          <a:xfrm>
            <a:off x="790575" y="3524250"/>
            <a:ext cx="1047750" cy="171450"/>
          </a:xfrm>
          <a:prstGeom prst="rect">
            <a:avLst/>
          </a:prstGeom>
          <a:noFill/>
        </p:spPr>
        <p:txBody>
          <a:bodyPr wrap="none" lIns="0" rIns="0" tIns="0" bIns="0" anchor="t">
            <a:spAutoFit/>
          </a:bodyPr>
          <a:lstStyle/>
          <a:p>
            <a:pPr algn="ctr"/>
            <a:r>
              <a:rPr b="1" sz="1050" i="0" u="none">
                <a:solidFill>
                  <a:srgbClr val="0F172A"/>
                </a:solidFill>
                <a:latin typeface="Noto Sans JP"/>
              </a:rPr>
              <a:t>ユーザー</a:t>
            </a:r>
          </a:p>
        </p:txBody>
      </p:sp>
      <p:sp>
        <p:nvSpPr>
          <p:cNvPr id="35" name="TextBox 34"/>
          <p:cNvSpPr txBox="1"/>
          <p:nvPr/>
        </p:nvSpPr>
        <p:spPr>
          <a:xfrm>
            <a:off x="1704975" y="3233737"/>
            <a:ext cx="742950" cy="161925"/>
          </a:xfrm>
          <a:prstGeom prst="rect">
            <a:avLst/>
          </a:prstGeom>
          <a:noFill/>
        </p:spPr>
        <p:txBody>
          <a:bodyPr wrap="none" lIns="0" rIns="0" tIns="0" bIns="0" anchor="t">
            <a:spAutoFit/>
          </a:bodyPr>
          <a:lstStyle/>
          <a:p>
            <a:pPr algn="ctr"/>
            <a:r>
              <a:rPr b="0" sz="900" i="0" u="none">
                <a:solidFill>
                  <a:srgbClr val="64748B"/>
                </a:solidFill>
                <a:latin typeface="Noto Sans JP"/>
              </a:rPr>
              <a:t>質問送信</a:t>
            </a:r>
          </a:p>
        </p:txBody>
      </p:sp>
      <p:sp>
        <p:nvSpPr>
          <p:cNvPr id="36" name="TextBox 35"/>
          <p:cNvSpPr txBox="1"/>
          <p:nvPr/>
        </p:nvSpPr>
        <p:spPr>
          <a:xfrm>
            <a:off x="2486025" y="3019425"/>
            <a:ext cx="1251644" cy="171450"/>
          </a:xfrm>
          <a:prstGeom prst="rect">
            <a:avLst/>
          </a:prstGeom>
          <a:noFill/>
        </p:spPr>
        <p:txBody>
          <a:bodyPr wrap="none" lIns="0" rIns="0" tIns="0" bIns="0" anchor="t">
            <a:spAutoFit/>
          </a:bodyPr>
          <a:lstStyle/>
          <a:p>
            <a:pPr algn="ctr"/>
            <a:r>
              <a:rPr b="1" sz="1050" i="0" u="none">
                <a:solidFill>
                  <a:srgbClr val="0284C7"/>
                </a:solidFill>
                <a:latin typeface="Noto Sans JP"/>
              </a:rPr>
              <a:t>1. フロント層</a:t>
            </a:r>
          </a:p>
        </p:txBody>
      </p:sp>
      <p:sp>
        <p:nvSpPr>
          <p:cNvPr id="37" name="TextBox 36"/>
          <p:cNvSpPr txBox="1"/>
          <p:nvPr/>
        </p:nvSpPr>
        <p:spPr>
          <a:xfrm>
            <a:off x="2486025" y="3571875"/>
            <a:ext cx="1251644" cy="171450"/>
          </a:xfrm>
          <a:prstGeom prst="rect">
            <a:avLst/>
          </a:prstGeom>
          <a:noFill/>
        </p:spPr>
        <p:txBody>
          <a:bodyPr wrap="none" lIns="0" rIns="0" tIns="0" bIns="0" anchor="t">
            <a:spAutoFit/>
          </a:bodyPr>
          <a:lstStyle/>
          <a:p>
            <a:pPr algn="ctr"/>
            <a:r>
              <a:rPr b="1" sz="1050" i="0" u="none">
                <a:solidFill>
                  <a:srgbClr val="0F172A"/>
                </a:solidFill>
                <a:latin typeface="Noto Sans JP"/>
              </a:rPr>
              <a:t>チャットUI</a:t>
            </a:r>
          </a:p>
        </p:txBody>
      </p:sp>
      <p:sp>
        <p:nvSpPr>
          <p:cNvPr id="38" name="TextBox 37"/>
          <p:cNvSpPr txBox="1"/>
          <p:nvPr/>
        </p:nvSpPr>
        <p:spPr>
          <a:xfrm>
            <a:off x="3775769" y="3233737"/>
            <a:ext cx="857250" cy="161925"/>
          </a:xfrm>
          <a:prstGeom prst="rect">
            <a:avLst/>
          </a:prstGeom>
          <a:noFill/>
        </p:spPr>
        <p:txBody>
          <a:bodyPr wrap="none" lIns="0" rIns="0" tIns="0" bIns="0" anchor="t">
            <a:spAutoFit/>
          </a:bodyPr>
          <a:lstStyle/>
          <a:p>
            <a:pPr algn="ctr"/>
            <a:r>
              <a:rPr b="0" sz="900" i="0" u="none">
                <a:solidFill>
                  <a:srgbClr val="64748B"/>
                </a:solidFill>
                <a:latin typeface="Noto Sans JP"/>
              </a:rPr>
              <a:t>リクエスト</a:t>
            </a:r>
          </a:p>
        </p:txBody>
      </p:sp>
      <p:sp>
        <p:nvSpPr>
          <p:cNvPr id="39" name="TextBox 38"/>
          <p:cNvSpPr txBox="1"/>
          <p:nvPr/>
        </p:nvSpPr>
        <p:spPr>
          <a:xfrm>
            <a:off x="4671119" y="3019425"/>
            <a:ext cx="1251644" cy="171450"/>
          </a:xfrm>
          <a:prstGeom prst="rect">
            <a:avLst/>
          </a:prstGeom>
          <a:noFill/>
        </p:spPr>
        <p:txBody>
          <a:bodyPr wrap="none" lIns="0" rIns="0" tIns="0" bIns="0" anchor="t">
            <a:spAutoFit/>
          </a:bodyPr>
          <a:lstStyle/>
          <a:p>
            <a:pPr algn="ctr"/>
            <a:r>
              <a:rPr b="1" sz="1050" i="0" u="none">
                <a:solidFill>
                  <a:srgbClr val="0284C7"/>
                </a:solidFill>
                <a:latin typeface="Noto Sans JP"/>
              </a:rPr>
              <a:t>2. API層</a:t>
            </a:r>
          </a:p>
        </p:txBody>
      </p:sp>
      <p:sp>
        <p:nvSpPr>
          <p:cNvPr id="40" name="TextBox 39"/>
          <p:cNvSpPr txBox="1"/>
          <p:nvPr/>
        </p:nvSpPr>
        <p:spPr>
          <a:xfrm>
            <a:off x="4671119" y="3571875"/>
            <a:ext cx="1251644" cy="171450"/>
          </a:xfrm>
          <a:prstGeom prst="rect">
            <a:avLst/>
          </a:prstGeom>
          <a:noFill/>
        </p:spPr>
        <p:txBody>
          <a:bodyPr wrap="none" lIns="0" rIns="0" tIns="0" bIns="0" anchor="t">
            <a:spAutoFit/>
          </a:bodyPr>
          <a:lstStyle/>
          <a:p>
            <a:pPr algn="ctr"/>
            <a:r>
              <a:rPr b="1" sz="1050" i="0" u="none">
                <a:solidFill>
                  <a:srgbClr val="0F172A"/>
                </a:solidFill>
                <a:latin typeface="Noto Sans JP"/>
              </a:rPr>
              <a:t>中継・認証</a:t>
            </a:r>
          </a:p>
        </p:txBody>
      </p:sp>
      <p:sp>
        <p:nvSpPr>
          <p:cNvPr id="41" name="TextBox 40"/>
          <p:cNvSpPr txBox="1"/>
          <p:nvPr/>
        </p:nvSpPr>
        <p:spPr>
          <a:xfrm>
            <a:off x="5960864" y="3233737"/>
            <a:ext cx="971550" cy="161925"/>
          </a:xfrm>
          <a:prstGeom prst="rect">
            <a:avLst/>
          </a:prstGeom>
          <a:noFill/>
        </p:spPr>
        <p:txBody>
          <a:bodyPr wrap="none" lIns="0" rIns="0" tIns="0" bIns="0" anchor="t">
            <a:spAutoFit/>
          </a:bodyPr>
          <a:lstStyle/>
          <a:p>
            <a:pPr algn="ctr"/>
            <a:r>
              <a:rPr b="0" sz="900" i="0" u="none">
                <a:solidFill>
                  <a:srgbClr val="64748B"/>
                </a:solidFill>
                <a:latin typeface="Noto Sans JP"/>
              </a:rPr>
              <a:t>ルーティング</a:t>
            </a:r>
          </a:p>
        </p:txBody>
      </p:sp>
      <p:sp>
        <p:nvSpPr>
          <p:cNvPr id="42" name="TextBox 41"/>
          <p:cNvSpPr txBox="1"/>
          <p:nvPr/>
        </p:nvSpPr>
        <p:spPr>
          <a:xfrm>
            <a:off x="6968504" y="2809875"/>
            <a:ext cx="1448841" cy="342900"/>
          </a:xfrm>
          <a:prstGeom prst="rect">
            <a:avLst/>
          </a:prstGeom>
          <a:noFill/>
        </p:spPr>
        <p:txBody>
          <a:bodyPr wrap="square" lIns="0" rIns="0" tIns="0" bIns="0" anchor="t">
            <a:spAutoFit/>
          </a:bodyPr>
          <a:lstStyle/>
          <a:p>
            <a:pPr algn="ctr"/>
            <a:r>
              <a:rPr b="1" sz="1050" i="0" u="none">
                <a:solidFill>
                  <a:srgbClr val="0369A1"/>
                </a:solidFill>
                <a:latin typeface="Noto Sans JP"/>
              </a:rPr>
              <a:t>3. AIエージェント層</a:t>
            </a:r>
          </a:p>
        </p:txBody>
      </p:sp>
      <p:sp>
        <p:nvSpPr>
          <p:cNvPr id="43" name="TextBox 42"/>
          <p:cNvSpPr txBox="1"/>
          <p:nvPr/>
        </p:nvSpPr>
        <p:spPr>
          <a:xfrm>
            <a:off x="6968504" y="3609975"/>
            <a:ext cx="1448841" cy="342900"/>
          </a:xfrm>
          <a:prstGeom prst="rect">
            <a:avLst/>
          </a:prstGeom>
          <a:noFill/>
        </p:spPr>
        <p:txBody>
          <a:bodyPr wrap="square" lIns="0" rIns="0" tIns="0" bIns="0" anchor="t">
            <a:spAutoFit/>
          </a:bodyPr>
          <a:lstStyle/>
          <a:p>
            <a:pPr algn="ctr"/>
            <a:r>
              <a:rPr b="1" sz="1050" i="0" u="none">
                <a:solidFill>
                  <a:srgbClr val="0F172A"/>
                </a:solidFill>
                <a:latin typeface="Noto Sans JP"/>
              </a:rPr>
              <a:t>意図解釈・ツール選択</a:t>
            </a:r>
          </a:p>
        </p:txBody>
      </p:sp>
      <p:sp>
        <p:nvSpPr>
          <p:cNvPr id="44" name="TextBox 43"/>
          <p:cNvSpPr txBox="1"/>
          <p:nvPr/>
        </p:nvSpPr>
        <p:spPr>
          <a:xfrm>
            <a:off x="8453437" y="3143250"/>
            <a:ext cx="863947" cy="161925"/>
          </a:xfrm>
          <a:prstGeom prst="rect">
            <a:avLst/>
          </a:prstGeom>
          <a:noFill/>
        </p:spPr>
        <p:txBody>
          <a:bodyPr wrap="none" lIns="0" rIns="0" tIns="0" bIns="0" anchor="t">
            <a:spAutoFit/>
          </a:bodyPr>
          <a:lstStyle/>
          <a:p>
            <a:pPr algn="ctr"/>
            <a:r>
              <a:rPr b="0" sz="900" i="0" u="none">
                <a:solidFill>
                  <a:srgbClr val="64748B"/>
                </a:solidFill>
                <a:latin typeface="Noto Sans JP"/>
              </a:rPr>
              <a:t>SQL生成</a:t>
            </a:r>
          </a:p>
        </p:txBody>
      </p:sp>
      <p:sp>
        <p:nvSpPr>
          <p:cNvPr id="45" name="TextBox 44"/>
          <p:cNvSpPr txBox="1"/>
          <p:nvPr/>
        </p:nvSpPr>
        <p:spPr>
          <a:xfrm>
            <a:off x="8453437" y="3457575"/>
            <a:ext cx="863947" cy="161925"/>
          </a:xfrm>
          <a:prstGeom prst="rect">
            <a:avLst/>
          </a:prstGeom>
          <a:noFill/>
        </p:spPr>
        <p:txBody>
          <a:bodyPr wrap="none" lIns="0" rIns="0" tIns="0" bIns="0" anchor="t">
            <a:spAutoFit/>
          </a:bodyPr>
          <a:lstStyle/>
          <a:p>
            <a:pPr algn="ctr"/>
            <a:r>
              <a:rPr b="0" sz="900" i="0" u="none">
                <a:solidFill>
                  <a:srgbClr val="64748B"/>
                </a:solidFill>
                <a:latin typeface="Noto Sans JP"/>
              </a:rPr>
              <a:t>検索実行</a:t>
            </a:r>
          </a:p>
        </p:txBody>
      </p:sp>
      <p:sp>
        <p:nvSpPr>
          <p:cNvPr id="46" name="TextBox 45"/>
          <p:cNvSpPr txBox="1"/>
          <p:nvPr/>
        </p:nvSpPr>
        <p:spPr>
          <a:xfrm>
            <a:off x="9450734" y="2324100"/>
            <a:ext cx="818257" cy="323850"/>
          </a:xfrm>
          <a:prstGeom prst="rect">
            <a:avLst/>
          </a:prstGeom>
          <a:noFill/>
        </p:spPr>
        <p:txBody>
          <a:bodyPr wrap="square" lIns="0" rIns="0" tIns="0" bIns="0" anchor="t">
            <a:spAutoFit/>
          </a:bodyPr>
          <a:lstStyle/>
          <a:p>
            <a:pPr algn="l"/>
            <a:r>
              <a:rPr b="1" sz="900" i="0" u="none">
                <a:solidFill>
                  <a:srgbClr val="0284C7"/>
                </a:solidFill>
                <a:latin typeface="Noto Sans JP"/>
              </a:rPr>
              <a:t>4. セマンティック層</a:t>
            </a:r>
          </a:p>
        </p:txBody>
      </p:sp>
      <p:sp>
        <p:nvSpPr>
          <p:cNvPr id="47" name="TextBox 46"/>
          <p:cNvSpPr txBox="1"/>
          <p:nvPr/>
        </p:nvSpPr>
        <p:spPr>
          <a:xfrm>
            <a:off x="9450734" y="2686050"/>
            <a:ext cx="818257" cy="476250"/>
          </a:xfrm>
          <a:prstGeom prst="rect">
            <a:avLst/>
          </a:prstGeom>
          <a:noFill/>
        </p:spPr>
        <p:txBody>
          <a:bodyPr wrap="square" lIns="0" rIns="0" tIns="0" bIns="0" anchor="t">
            <a:spAutoFit/>
          </a:bodyPr>
          <a:lstStyle/>
          <a:p>
            <a:pPr algn="l"/>
            <a:r>
              <a:rPr b="1" sz="1050" i="0" u="none">
                <a:solidFill>
                  <a:srgbClr val="0F172A"/>
                </a:solidFill>
                <a:latin typeface="Noto Sans JP"/>
              </a:rPr>
              <a:t>構造化抽出 (Text-to-SQL)</a:t>
            </a:r>
          </a:p>
        </p:txBody>
      </p:sp>
      <p:sp>
        <p:nvSpPr>
          <p:cNvPr id="48" name="TextBox 47"/>
          <p:cNvSpPr txBox="1"/>
          <p:nvPr/>
        </p:nvSpPr>
        <p:spPr>
          <a:xfrm>
            <a:off x="10411866" y="2324100"/>
            <a:ext cx="818257" cy="323850"/>
          </a:xfrm>
          <a:prstGeom prst="rect">
            <a:avLst/>
          </a:prstGeom>
          <a:noFill/>
        </p:spPr>
        <p:txBody>
          <a:bodyPr wrap="square" lIns="0" rIns="0" tIns="0" bIns="0" anchor="t">
            <a:spAutoFit/>
          </a:bodyPr>
          <a:lstStyle/>
          <a:p>
            <a:pPr algn="l"/>
            <a:r>
              <a:rPr b="1" sz="900" i="0" u="none">
                <a:solidFill>
                  <a:srgbClr val="475569"/>
                </a:solidFill>
                <a:latin typeface="Noto Sans JP"/>
              </a:rPr>
              <a:t>6. ストレージ層</a:t>
            </a:r>
          </a:p>
        </p:txBody>
      </p:sp>
      <p:sp>
        <p:nvSpPr>
          <p:cNvPr id="49" name="TextBox 48"/>
          <p:cNvSpPr txBox="1"/>
          <p:nvPr/>
        </p:nvSpPr>
        <p:spPr>
          <a:xfrm>
            <a:off x="10411866" y="2686050"/>
            <a:ext cx="818257" cy="342900"/>
          </a:xfrm>
          <a:prstGeom prst="rect">
            <a:avLst/>
          </a:prstGeom>
          <a:noFill/>
        </p:spPr>
        <p:txBody>
          <a:bodyPr wrap="square" lIns="0" rIns="0" tIns="0" bIns="0" anchor="t">
            <a:spAutoFit/>
          </a:bodyPr>
          <a:lstStyle/>
          <a:p>
            <a:pPr algn="l"/>
            <a:r>
              <a:rPr b="1" sz="1050" i="0" u="none">
                <a:solidFill>
                  <a:srgbClr val="0F172A"/>
                </a:solidFill>
                <a:latin typeface="Noto Sans JP"/>
              </a:rPr>
              <a:t>データウェアハウス</a:t>
            </a:r>
          </a:p>
        </p:txBody>
      </p:sp>
      <p:sp>
        <p:nvSpPr>
          <p:cNvPr id="50" name="TextBox 49"/>
          <p:cNvSpPr txBox="1"/>
          <p:nvPr/>
        </p:nvSpPr>
        <p:spPr>
          <a:xfrm>
            <a:off x="9450734" y="3562350"/>
            <a:ext cx="818257" cy="323850"/>
          </a:xfrm>
          <a:prstGeom prst="rect">
            <a:avLst/>
          </a:prstGeom>
          <a:noFill/>
        </p:spPr>
        <p:txBody>
          <a:bodyPr wrap="square" lIns="0" rIns="0" tIns="0" bIns="0" anchor="t">
            <a:spAutoFit/>
          </a:bodyPr>
          <a:lstStyle/>
          <a:p>
            <a:pPr algn="l"/>
            <a:r>
              <a:rPr b="1" sz="900" i="0" u="none">
                <a:solidFill>
                  <a:srgbClr val="0284C7"/>
                </a:solidFill>
                <a:latin typeface="Noto Sans JP"/>
              </a:rPr>
              <a:t>4. セマンティック層</a:t>
            </a:r>
          </a:p>
        </p:txBody>
      </p:sp>
      <p:sp>
        <p:nvSpPr>
          <p:cNvPr id="51" name="TextBox 50"/>
          <p:cNvSpPr txBox="1"/>
          <p:nvPr/>
        </p:nvSpPr>
        <p:spPr>
          <a:xfrm>
            <a:off x="9450734" y="3924300"/>
            <a:ext cx="818257" cy="514350"/>
          </a:xfrm>
          <a:prstGeom prst="rect">
            <a:avLst/>
          </a:prstGeom>
          <a:noFill/>
        </p:spPr>
        <p:txBody>
          <a:bodyPr wrap="square" lIns="0" rIns="0" tIns="0" bIns="0" anchor="t">
            <a:spAutoFit/>
          </a:bodyPr>
          <a:lstStyle/>
          <a:p>
            <a:pPr algn="l"/>
            <a:r>
              <a:rPr b="1" sz="1050" i="0" u="none">
                <a:solidFill>
                  <a:srgbClr val="0F172A"/>
                </a:solidFill>
                <a:latin typeface="Noto Sans JP"/>
              </a:rPr>
              <a:t>非構造化 (ベクトル検索)</a:t>
            </a:r>
          </a:p>
        </p:txBody>
      </p:sp>
      <p:sp>
        <p:nvSpPr>
          <p:cNvPr id="52" name="TextBox 51"/>
          <p:cNvSpPr txBox="1"/>
          <p:nvPr/>
        </p:nvSpPr>
        <p:spPr>
          <a:xfrm>
            <a:off x="10411866" y="3562350"/>
            <a:ext cx="818257" cy="323850"/>
          </a:xfrm>
          <a:prstGeom prst="rect">
            <a:avLst/>
          </a:prstGeom>
          <a:noFill/>
        </p:spPr>
        <p:txBody>
          <a:bodyPr wrap="square" lIns="0" rIns="0" tIns="0" bIns="0" anchor="t">
            <a:spAutoFit/>
          </a:bodyPr>
          <a:lstStyle/>
          <a:p>
            <a:pPr algn="l"/>
            <a:r>
              <a:rPr b="1" sz="900" i="0" u="none">
                <a:solidFill>
                  <a:srgbClr val="475569"/>
                </a:solidFill>
                <a:latin typeface="Noto Sans JP"/>
              </a:rPr>
              <a:t>6. ストレージ層</a:t>
            </a:r>
          </a:p>
        </p:txBody>
      </p:sp>
      <p:sp>
        <p:nvSpPr>
          <p:cNvPr id="53" name="TextBox 52"/>
          <p:cNvSpPr txBox="1"/>
          <p:nvPr/>
        </p:nvSpPr>
        <p:spPr>
          <a:xfrm>
            <a:off x="10411866" y="3924300"/>
            <a:ext cx="818257" cy="342900"/>
          </a:xfrm>
          <a:prstGeom prst="rect">
            <a:avLst/>
          </a:prstGeom>
          <a:noFill/>
        </p:spPr>
        <p:txBody>
          <a:bodyPr wrap="square" lIns="0" rIns="0" tIns="0" bIns="0" anchor="t">
            <a:spAutoFit/>
          </a:bodyPr>
          <a:lstStyle/>
          <a:p>
            <a:pPr algn="l"/>
            <a:r>
              <a:rPr b="1" sz="1050" i="0" u="none">
                <a:solidFill>
                  <a:srgbClr val="0F172A"/>
                </a:solidFill>
                <a:latin typeface="Noto Sans JP"/>
              </a:rPr>
              <a:t>ベクトルDB / 索引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1. フロントエンド層（ユーザーインターフェース）</a:t>
            </a:r>
          </a:p>
        </p:txBody>
      </p:sp>
      <p:sp>
        <p:nvSpPr>
          <p:cNvPr id="3" name="TextBox 2"/>
          <p:cNvSpPr txBox="1"/>
          <p:nvPr/>
        </p:nvSpPr>
        <p:spPr>
          <a:xfrm>
            <a:off x="609600" y="1333500"/>
            <a:ext cx="11068050" cy="1097012"/>
          </a:xfrm>
          <a:prstGeom prst="rect">
            <a:avLst/>
          </a:prstGeom>
          <a:noFill/>
        </p:spPr>
        <p:txBody>
          <a:bodyPr wrap="square" lIns="0" rIns="0" tIns="0" bIns="0" anchor="t">
            <a:spAutoFit/>
          </a:bodyPr>
          <a:lstStyle/>
          <a:p>
            <a:pPr algn="l">
              <a:lnSpc>
                <a:spcPts val="2879"/>
              </a:lnSpc>
            </a:pPr>
            <a:r>
              <a:rPr b="0" sz="1800" i="0" u="none">
                <a:solidFill>
                  <a:srgbClr val="1E293B"/>
                </a:solidFill>
                <a:latin typeface="Noto Sans JP"/>
              </a:rPr>
              <a:t>ユーザーが自然言語でAIエージェントと対話するための画面です。チャットUIだけでなく、過去の会話履歴の表示、参考元ドキュメント（Citation）のプレビュー、抽出された構造化データ（表グラフ）の表示機能などが求められます。</a:t>
            </a:r>
          </a:p>
        </p:txBody>
      </p:sp>
      <p:sp>
        <p:nvSpPr>
          <p:cNvPr id="4" name="TextBox 3"/>
          <p:cNvSpPr txBox="1"/>
          <p:nvPr/>
        </p:nvSpPr>
        <p:spPr>
          <a:xfrm>
            <a:off x="914400" y="2661017"/>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5" name="TextBox 4"/>
          <p:cNvSpPr txBox="1"/>
          <p:nvPr/>
        </p:nvSpPr>
        <p:spPr>
          <a:xfrm>
            <a:off x="990600" y="2659112"/>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フルスクラッチ開発:</a:t>
            </a:r>
            <a:r>
              <a:rPr b="0" sz="1800" i="0" u="none">
                <a:solidFill>
                  <a:srgbClr val="1E293B"/>
                </a:solidFill>
                <a:latin typeface="Noto Sans JP"/>
              </a:rPr>
              <a:t> React, Vue.js など</a:t>
            </a:r>
          </a:p>
        </p:txBody>
      </p:sp>
      <p:sp>
        <p:nvSpPr>
          <p:cNvPr id="6" name="TextBox 5"/>
          <p:cNvSpPr txBox="1"/>
          <p:nvPr/>
        </p:nvSpPr>
        <p:spPr>
          <a:xfrm>
            <a:off x="914400" y="3179087"/>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7" name="TextBox 6"/>
          <p:cNvSpPr txBox="1"/>
          <p:nvPr/>
        </p:nvSpPr>
        <p:spPr>
          <a:xfrm>
            <a:off x="990600" y="3177182"/>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手軽なUI構築:</a:t>
            </a:r>
            <a:r>
              <a:rPr b="0" sz="1800" i="0" u="none">
                <a:solidFill>
                  <a:srgbClr val="1E293B"/>
                </a:solidFill>
                <a:latin typeface="Noto Sans JP"/>
              </a:rPr>
              <a:t> Streamlit, Gradio</a:t>
            </a:r>
          </a:p>
        </p:txBody>
      </p:sp>
      <p:sp>
        <p:nvSpPr>
          <p:cNvPr id="8" name="TextBox 7"/>
          <p:cNvSpPr txBox="1"/>
          <p:nvPr/>
        </p:nvSpPr>
        <p:spPr>
          <a:xfrm>
            <a:off x="914400" y="3697158"/>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9" name="TextBox 8"/>
          <p:cNvSpPr txBox="1"/>
          <p:nvPr/>
        </p:nvSpPr>
        <p:spPr>
          <a:xfrm>
            <a:off x="990600" y="3695253"/>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プラットフォーム標準:</a:t>
            </a:r>
            <a:r>
              <a:rPr b="0" sz="1800" i="0" u="none">
                <a:solidFill>
                  <a:srgbClr val="1E293B"/>
                </a:solidFill>
                <a:latin typeface="Noto Sans JP"/>
              </a:rPr>
              <a:t> Snowflake CoWork（Agents UI）、社内の既存ポータルへの組み込み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2. API / インテグレーション層</a:t>
            </a:r>
          </a:p>
        </p:txBody>
      </p:sp>
      <p:sp>
        <p:nvSpPr>
          <p:cNvPr id="3" name="TextBox 2"/>
          <p:cNvSpPr txBox="1"/>
          <p:nvPr/>
        </p:nvSpPr>
        <p:spPr>
          <a:xfrm>
            <a:off x="609600" y="1333500"/>
            <a:ext cx="11068050" cy="731341"/>
          </a:xfrm>
          <a:prstGeom prst="rect">
            <a:avLst/>
          </a:prstGeom>
          <a:noFill/>
        </p:spPr>
        <p:txBody>
          <a:bodyPr wrap="square" lIns="0" rIns="0" tIns="0" bIns="0" anchor="t">
            <a:spAutoFit/>
          </a:bodyPr>
          <a:lstStyle/>
          <a:p>
            <a:pPr algn="l">
              <a:lnSpc>
                <a:spcPts val="2879"/>
              </a:lnSpc>
            </a:pPr>
            <a:r>
              <a:rPr b="0" sz="1800" i="0" u="none">
                <a:solidFill>
                  <a:srgbClr val="1E293B"/>
                </a:solidFill>
                <a:latin typeface="Noto Sans JP"/>
              </a:rPr>
              <a:t>フロントエンドからのリクエストを受け付け、AIエージェント層へ渡す「窓口」です。認証トークンの検証、セッション管理、リクエストのルーティングなどを行います。</a:t>
            </a:r>
          </a:p>
        </p:txBody>
      </p:sp>
      <p:sp>
        <p:nvSpPr>
          <p:cNvPr id="4" name="TextBox 3"/>
          <p:cNvSpPr txBox="1"/>
          <p:nvPr/>
        </p:nvSpPr>
        <p:spPr>
          <a:xfrm>
            <a:off x="914400" y="2295346"/>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5" name="TextBox 4"/>
          <p:cNvSpPr txBox="1"/>
          <p:nvPr/>
        </p:nvSpPr>
        <p:spPr>
          <a:xfrm>
            <a:off x="990600" y="2293441"/>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AWS等で構築する場合:</a:t>
            </a:r>
            <a:r>
              <a:rPr b="0" sz="1800" i="0" u="none">
                <a:solidFill>
                  <a:srgbClr val="1E293B"/>
                </a:solidFill>
                <a:latin typeface="Noto Sans JP"/>
              </a:rPr>
              <a:t> Amazon API Gateway + AWS Lambda, FastAPI, ECSコンテナなど</a:t>
            </a:r>
          </a:p>
        </p:txBody>
      </p:sp>
      <p:sp>
        <p:nvSpPr>
          <p:cNvPr id="6" name="TextBox 5"/>
          <p:cNvSpPr txBox="1"/>
          <p:nvPr/>
        </p:nvSpPr>
        <p:spPr>
          <a:xfrm>
            <a:off x="914400" y="2813417"/>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7" name="TextBox 6"/>
          <p:cNvSpPr txBox="1"/>
          <p:nvPr/>
        </p:nvSpPr>
        <p:spPr>
          <a:xfrm>
            <a:off x="990600" y="2811512"/>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Snowflake完結の場合:</a:t>
            </a:r>
            <a:r>
              <a:rPr b="0" sz="1800" i="0" u="none">
                <a:solidFill>
                  <a:srgbClr val="1E293B"/>
                </a:solidFill>
                <a:latin typeface="Noto Sans JP"/>
              </a:rPr>
              <a:t> Snowflake API, Cortex Agent REST API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3. AIエージェント・推論層（オーケストレーション層）</a:t>
            </a:r>
          </a:p>
        </p:txBody>
      </p:sp>
      <p:sp>
        <p:nvSpPr>
          <p:cNvPr id="3" name="TextBox 2"/>
          <p:cNvSpPr txBox="1"/>
          <p:nvPr/>
        </p:nvSpPr>
        <p:spPr>
          <a:xfrm>
            <a:off x="609600" y="1333500"/>
            <a:ext cx="11068050" cy="731341"/>
          </a:xfrm>
          <a:prstGeom prst="rect">
            <a:avLst/>
          </a:prstGeom>
          <a:noFill/>
        </p:spPr>
        <p:txBody>
          <a:bodyPr wrap="square" lIns="0" rIns="0" tIns="0" bIns="0" anchor="t">
            <a:spAutoFit/>
          </a:bodyPr>
          <a:lstStyle/>
          <a:p>
            <a:pPr algn="l">
              <a:lnSpc>
                <a:spcPts val="2879"/>
              </a:lnSpc>
            </a:pPr>
            <a:r>
              <a:rPr b="0" sz="1800" i="0" u="none">
                <a:solidFill>
                  <a:srgbClr val="1E293B"/>
                </a:solidFill>
                <a:latin typeface="Noto Sans JP"/>
              </a:rPr>
              <a:t>ユーザーの質問意図を理解し、「どのデータ（構造化か非構造化か）を見に行くべきか」「どのツールを使うべきか」を自律的に判断して実行計画を立てる、システムの「頭脳」です。</a:t>
            </a:r>
          </a:p>
        </p:txBody>
      </p:sp>
      <p:sp>
        <p:nvSpPr>
          <p:cNvPr id="4" name="TextBox 3"/>
          <p:cNvSpPr txBox="1"/>
          <p:nvPr/>
        </p:nvSpPr>
        <p:spPr>
          <a:xfrm>
            <a:off x="914400" y="2295346"/>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5" name="TextBox 4"/>
          <p:cNvSpPr txBox="1"/>
          <p:nvPr/>
        </p:nvSpPr>
        <p:spPr>
          <a:xfrm>
            <a:off x="990600" y="2293441"/>
            <a:ext cx="10687050" cy="731341"/>
          </a:xfrm>
          <a:prstGeom prst="rect">
            <a:avLst/>
          </a:prstGeom>
          <a:noFill/>
        </p:spPr>
        <p:txBody>
          <a:bodyPr wrap="square" lIns="76200" rIns="0" tIns="0" bIns="0" anchor="t">
            <a:spAutoFit/>
          </a:bodyPr>
          <a:lstStyle/>
          <a:p>
            <a:pPr algn="l">
              <a:lnSpc>
                <a:spcPts val="2879"/>
              </a:lnSpc>
            </a:pPr>
            <a:r>
              <a:rPr b="1" sz="1800" i="0" u="none">
                <a:solidFill>
                  <a:srgbClr val="1E293B"/>
                </a:solidFill>
                <a:latin typeface="Noto Sans JP"/>
              </a:rPr>
              <a:t>主な役割:</a:t>
            </a:r>
            <a:r>
              <a:rPr b="0" sz="1800" i="0" u="none">
                <a:solidFill>
                  <a:srgbClr val="1E293B"/>
                </a:solidFill>
                <a:latin typeface="Noto Sans JP"/>
              </a:rPr>
              <a:t> ユーザーの曖昧な質問を解釈、ツールの選択（非構造化検索 or SQL生成）、複数ステップの推論（ReActなど）、最終回答の生成。</a:t>
            </a:r>
          </a:p>
        </p:txBody>
      </p:sp>
      <p:sp>
        <p:nvSpPr>
          <p:cNvPr id="6" name="TextBox 5"/>
          <p:cNvSpPr txBox="1"/>
          <p:nvPr/>
        </p:nvSpPr>
        <p:spPr>
          <a:xfrm>
            <a:off x="914400" y="3179087"/>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7" name="TextBox 6"/>
          <p:cNvSpPr txBox="1"/>
          <p:nvPr/>
        </p:nvSpPr>
        <p:spPr>
          <a:xfrm>
            <a:off x="990600" y="3177182"/>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実装例:</a:t>
            </a:r>
            <a:r>
              <a:rPr b="0" sz="1800" i="0" u="none">
                <a:solidFill>
                  <a:srgbClr val="1E293B"/>
                </a:solidFill>
                <a:latin typeface="Noto Sans JP"/>
              </a:rPr>
              <a:t> AWS Bedrock Agents, LangChain / LangGraph, Snowflake Cortex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4. セマンティック・抽出層（ツール・インターフェース層）</a:t>
            </a:r>
          </a:p>
        </p:txBody>
      </p:sp>
      <p:sp>
        <p:nvSpPr>
          <p:cNvPr id="3" name="TextBox 2"/>
          <p:cNvSpPr txBox="1"/>
          <p:nvPr/>
        </p:nvSpPr>
        <p:spPr>
          <a:xfrm>
            <a:off x="609600" y="1333500"/>
            <a:ext cx="11068050" cy="731341"/>
          </a:xfrm>
          <a:prstGeom prst="rect">
            <a:avLst/>
          </a:prstGeom>
          <a:noFill/>
        </p:spPr>
        <p:txBody>
          <a:bodyPr wrap="square" lIns="0" rIns="0" tIns="0" bIns="0" anchor="t">
            <a:spAutoFit/>
          </a:bodyPr>
          <a:lstStyle/>
          <a:p>
            <a:pPr algn="l">
              <a:lnSpc>
                <a:spcPts val="2879"/>
              </a:lnSpc>
            </a:pPr>
            <a:r>
              <a:rPr b="0" sz="1800" i="0" u="none">
                <a:solidFill>
                  <a:srgbClr val="1E293B"/>
                </a:solidFill>
                <a:latin typeface="Noto Sans JP"/>
              </a:rPr>
              <a:t>AIエージェントが、実際のデータベースや検索エンジンとやり取りするための「翻訳・抽出レイヤー」です。RAG検証の資料でも最重要視されていた部分です。</a:t>
            </a:r>
          </a:p>
        </p:txBody>
      </p:sp>
      <p:sp>
        <p:nvSpPr>
          <p:cNvPr id="4" name="TextBox 3"/>
          <p:cNvSpPr txBox="1"/>
          <p:nvPr/>
        </p:nvSpPr>
        <p:spPr>
          <a:xfrm>
            <a:off x="914400" y="2295346"/>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5" name="TextBox 4"/>
          <p:cNvSpPr txBox="1"/>
          <p:nvPr/>
        </p:nvSpPr>
        <p:spPr>
          <a:xfrm>
            <a:off x="990600" y="2293441"/>
            <a:ext cx="10687050" cy="731341"/>
          </a:xfrm>
          <a:prstGeom prst="rect">
            <a:avLst/>
          </a:prstGeom>
          <a:noFill/>
        </p:spPr>
        <p:txBody>
          <a:bodyPr wrap="square" lIns="76200" rIns="0" tIns="0" bIns="0" anchor="t">
            <a:spAutoFit/>
          </a:bodyPr>
          <a:lstStyle/>
          <a:p>
            <a:pPr algn="l">
              <a:lnSpc>
                <a:spcPts val="2879"/>
              </a:lnSpc>
            </a:pPr>
            <a:r>
              <a:rPr b="1" sz="1800" i="0" u="none">
                <a:solidFill>
                  <a:srgbClr val="1E293B"/>
                </a:solidFill>
                <a:latin typeface="Noto Sans JP"/>
              </a:rPr>
              <a:t>構造化データ向け（Text-to-SQL）:</a:t>
            </a:r>
            <a:r>
              <a:rPr b="0" sz="1800" i="0" u="none">
                <a:solidFill>
                  <a:srgbClr val="1E293B"/>
                </a:solidFill>
                <a:latin typeface="Noto Sans JP"/>
              </a:rPr>
              <a:t> ユーザーの質問から正確なSQLを生成するための意味定義（セマンティックモデルやYAML辞書）の層。例: Cortex Analyst、Cube。</a:t>
            </a:r>
          </a:p>
        </p:txBody>
      </p:sp>
      <p:sp>
        <p:nvSpPr>
          <p:cNvPr id="6" name="TextBox 5"/>
          <p:cNvSpPr txBox="1"/>
          <p:nvPr/>
        </p:nvSpPr>
        <p:spPr>
          <a:xfrm>
            <a:off x="914400" y="3179087"/>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7" name="TextBox 6"/>
          <p:cNvSpPr txBox="1"/>
          <p:nvPr/>
        </p:nvSpPr>
        <p:spPr>
          <a:xfrm>
            <a:off x="990600" y="3177182"/>
            <a:ext cx="10687050" cy="1097012"/>
          </a:xfrm>
          <a:prstGeom prst="rect">
            <a:avLst/>
          </a:prstGeom>
          <a:noFill/>
        </p:spPr>
        <p:txBody>
          <a:bodyPr wrap="square" lIns="76200" rIns="0" tIns="0" bIns="0" anchor="t">
            <a:spAutoFit/>
          </a:bodyPr>
          <a:lstStyle/>
          <a:p>
            <a:pPr algn="l">
              <a:lnSpc>
                <a:spcPts val="2879"/>
              </a:lnSpc>
            </a:pPr>
            <a:r>
              <a:rPr b="1" sz="1800" i="0" u="none">
                <a:solidFill>
                  <a:srgbClr val="1E293B"/>
                </a:solidFill>
                <a:latin typeface="Noto Sans JP"/>
              </a:rPr>
              <a:t>非構造化データ向け（ベクトル検索）:</a:t>
            </a:r>
            <a:r>
              <a:rPr b="0" sz="1800" i="0" u="none">
                <a:solidFill>
                  <a:srgbClr val="1E293B"/>
                </a:solidFill>
                <a:latin typeface="Noto Sans JP"/>
              </a:rPr>
              <a:t> 質問文の揺らぎを吸収するクエリ拡張（用語辞書・GLOSSARYによる拡張）や、意図に沿ったドキュメントを抽出する検索エンジン。例: Cortex Search、Amazon OpenSearch、Kendra。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5. データ処理・パイプライン層（インジェスト層）</a:t>
            </a:r>
          </a:p>
        </p:txBody>
      </p:sp>
      <p:sp>
        <p:nvSpPr>
          <p:cNvPr id="3" name="TextBox 2"/>
          <p:cNvSpPr txBox="1"/>
          <p:nvPr/>
        </p:nvSpPr>
        <p:spPr>
          <a:xfrm>
            <a:off x="609600" y="1333500"/>
            <a:ext cx="11068050" cy="731341"/>
          </a:xfrm>
          <a:prstGeom prst="rect">
            <a:avLst/>
          </a:prstGeom>
          <a:noFill/>
        </p:spPr>
        <p:txBody>
          <a:bodyPr wrap="square" lIns="0" rIns="0" tIns="0" bIns="0" anchor="t">
            <a:spAutoFit/>
          </a:bodyPr>
          <a:lstStyle/>
          <a:p>
            <a:pPr algn="l">
              <a:lnSpc>
                <a:spcPts val="2879"/>
              </a:lnSpc>
            </a:pPr>
            <a:r>
              <a:rPr b="0" sz="1800" i="0" u="none">
                <a:solidFill>
                  <a:srgbClr val="1E293B"/>
                </a:solidFill>
                <a:latin typeface="Noto Sans JP"/>
              </a:rPr>
              <a:t>社内に散らばる生データを、AIが検索・抽出できる形に変換し、継続的に最新状態に保つための裏側の仕組みです。</a:t>
            </a:r>
          </a:p>
        </p:txBody>
      </p:sp>
      <p:sp>
        <p:nvSpPr>
          <p:cNvPr id="4" name="TextBox 3"/>
          <p:cNvSpPr txBox="1"/>
          <p:nvPr/>
        </p:nvSpPr>
        <p:spPr>
          <a:xfrm>
            <a:off x="914400" y="2295346"/>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5" name="TextBox 4"/>
          <p:cNvSpPr txBox="1"/>
          <p:nvPr/>
        </p:nvSpPr>
        <p:spPr>
          <a:xfrm>
            <a:off x="990600" y="2293441"/>
            <a:ext cx="10687050" cy="731341"/>
          </a:xfrm>
          <a:prstGeom prst="rect">
            <a:avLst/>
          </a:prstGeom>
          <a:noFill/>
        </p:spPr>
        <p:txBody>
          <a:bodyPr wrap="square" lIns="76200" rIns="0" tIns="0" bIns="0" anchor="t">
            <a:spAutoFit/>
          </a:bodyPr>
          <a:lstStyle/>
          <a:p>
            <a:pPr algn="l">
              <a:lnSpc>
                <a:spcPts val="2879"/>
              </a:lnSpc>
            </a:pPr>
            <a:r>
              <a:rPr b="1" sz="1800" i="0" u="none">
                <a:solidFill>
                  <a:srgbClr val="1E293B"/>
                </a:solidFill>
                <a:latin typeface="Noto Sans JP"/>
              </a:rPr>
              <a:t>非構造化パイプライン:</a:t>
            </a:r>
            <a:r>
              <a:rPr b="0" sz="1800" i="0" u="none">
                <a:solidFill>
                  <a:srgbClr val="1E293B"/>
                </a:solidFill>
                <a:latin typeface="Noto Sans JP"/>
              </a:rPr>
              <a:t> PDF等のパース、チャンク分割、メタデータ付与（自動タグ付け）、ベクトル化（Embedding）、差分更新の仕組み。</a:t>
            </a:r>
          </a:p>
        </p:txBody>
      </p:sp>
      <p:sp>
        <p:nvSpPr>
          <p:cNvPr id="6" name="TextBox 5"/>
          <p:cNvSpPr txBox="1"/>
          <p:nvPr/>
        </p:nvSpPr>
        <p:spPr>
          <a:xfrm>
            <a:off x="914400" y="3179087"/>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7" name="TextBox 6"/>
          <p:cNvSpPr txBox="1"/>
          <p:nvPr/>
        </p:nvSpPr>
        <p:spPr>
          <a:xfrm>
            <a:off x="990600" y="3177182"/>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構造化パイプライン:</a:t>
            </a:r>
            <a:r>
              <a:rPr b="0" sz="1800" i="0" u="none">
                <a:solidFill>
                  <a:srgbClr val="1E293B"/>
                </a:solidFill>
                <a:latin typeface="Noto Sans JP"/>
              </a:rPr>
              <a:t> 業務システムからのデータ抽出（ETL/ELT）、データクレンジング。</a:t>
            </a:r>
          </a:p>
        </p:txBody>
      </p:sp>
      <p:sp>
        <p:nvSpPr>
          <p:cNvPr id="8" name="TextBox 7"/>
          <p:cNvSpPr txBox="1"/>
          <p:nvPr/>
        </p:nvSpPr>
        <p:spPr>
          <a:xfrm>
            <a:off x="914400" y="3697158"/>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9" name="TextBox 8"/>
          <p:cNvSpPr txBox="1"/>
          <p:nvPr/>
        </p:nvSpPr>
        <p:spPr>
          <a:xfrm>
            <a:off x="990600" y="3695253"/>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実装例:</a:t>
            </a:r>
            <a:r>
              <a:rPr b="0" sz="1800" i="0" u="none">
                <a:solidFill>
                  <a:srgbClr val="1E293B"/>
                </a:solidFill>
                <a:latin typeface="Noto Sans JP"/>
              </a:rPr>
              <a:t> SnowflakeのTask/Stream・PARSE_DOCUMENT、AWS Glue、Step Functionsなど。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6. データ保管・ストレージ層</a:t>
            </a:r>
          </a:p>
        </p:txBody>
      </p:sp>
      <p:sp>
        <p:nvSpPr>
          <p:cNvPr id="3" name="TextBox 2"/>
          <p:cNvSpPr txBox="1"/>
          <p:nvPr/>
        </p:nvSpPr>
        <p:spPr>
          <a:xfrm>
            <a:off x="609600" y="1333500"/>
            <a:ext cx="11582400" cy="365670"/>
          </a:xfrm>
          <a:prstGeom prst="rect">
            <a:avLst/>
          </a:prstGeom>
          <a:noFill/>
        </p:spPr>
        <p:txBody>
          <a:bodyPr wrap="none" lIns="0" rIns="0" tIns="0" bIns="0" anchor="t">
            <a:spAutoFit/>
          </a:bodyPr>
          <a:lstStyle/>
          <a:p>
            <a:pPr algn="l">
              <a:lnSpc>
                <a:spcPts val="2879"/>
              </a:lnSpc>
            </a:pPr>
            <a:r>
              <a:rPr b="0" sz="1800" i="0" u="none">
                <a:solidFill>
                  <a:srgbClr val="1E293B"/>
                </a:solidFill>
                <a:latin typeface="Noto Sans JP"/>
              </a:rPr>
              <a:t>実際に処理されたデータやベクトル、トランザクションデータを保管する層です。</a:t>
            </a:r>
          </a:p>
        </p:txBody>
      </p:sp>
      <p:sp>
        <p:nvSpPr>
          <p:cNvPr id="4" name="TextBox 3"/>
          <p:cNvSpPr txBox="1"/>
          <p:nvPr/>
        </p:nvSpPr>
        <p:spPr>
          <a:xfrm>
            <a:off x="914400" y="1929675"/>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5" name="TextBox 4"/>
          <p:cNvSpPr txBox="1"/>
          <p:nvPr/>
        </p:nvSpPr>
        <p:spPr>
          <a:xfrm>
            <a:off x="990600" y="1927770"/>
            <a:ext cx="10687050" cy="731341"/>
          </a:xfrm>
          <a:prstGeom prst="rect">
            <a:avLst/>
          </a:prstGeom>
          <a:noFill/>
        </p:spPr>
        <p:txBody>
          <a:bodyPr wrap="square" lIns="76200" rIns="0" tIns="0" bIns="0" anchor="t">
            <a:spAutoFit/>
          </a:bodyPr>
          <a:lstStyle/>
          <a:p>
            <a:pPr algn="l">
              <a:lnSpc>
                <a:spcPts val="2879"/>
              </a:lnSpc>
            </a:pPr>
            <a:r>
              <a:rPr b="1" sz="1800" i="0" u="none">
                <a:solidFill>
                  <a:srgbClr val="1E293B"/>
                </a:solidFill>
                <a:latin typeface="Noto Sans JP"/>
              </a:rPr>
              <a:t>非構造化の保管:</a:t>
            </a:r>
            <a:r>
              <a:rPr b="0" sz="1800" i="0" u="none">
                <a:solidFill>
                  <a:srgbClr val="1E293B"/>
                </a:solidFill>
                <a:latin typeface="Noto Sans JP"/>
              </a:rPr>
              <a:t> オブジェクトストレージ（Amazon S3, Box, SharePoint等）、ベクトルデータベース（Cortex Searchのインデックス、OpenSearch）。</a:t>
            </a:r>
          </a:p>
        </p:txBody>
      </p:sp>
      <p:sp>
        <p:nvSpPr>
          <p:cNvPr id="6" name="TextBox 5"/>
          <p:cNvSpPr txBox="1"/>
          <p:nvPr/>
        </p:nvSpPr>
        <p:spPr>
          <a:xfrm>
            <a:off x="914400" y="2813417"/>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7" name="TextBox 6"/>
          <p:cNvSpPr txBox="1"/>
          <p:nvPr/>
        </p:nvSpPr>
        <p:spPr>
          <a:xfrm>
            <a:off x="990600" y="2811512"/>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構造化の保管:</a:t>
            </a:r>
            <a:r>
              <a:rPr b="0" sz="1800" i="0" u="none">
                <a:solidFill>
                  <a:srgbClr val="1E293B"/>
                </a:solidFill>
                <a:latin typeface="Noto Sans JP"/>
              </a:rPr>
              <a:t> データウェアハウス（Snowflake、Amazon Redshiftなど）、リレーショナルDB。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7. セキュリティ・ガバナンス・権限管理層（横断レイヤー）</a:t>
            </a:r>
          </a:p>
        </p:txBody>
      </p:sp>
      <p:sp>
        <p:nvSpPr>
          <p:cNvPr id="3" name="TextBox 2"/>
          <p:cNvSpPr txBox="1"/>
          <p:nvPr/>
        </p:nvSpPr>
        <p:spPr>
          <a:xfrm>
            <a:off x="609600" y="1333500"/>
            <a:ext cx="11068050" cy="731341"/>
          </a:xfrm>
          <a:prstGeom prst="rect">
            <a:avLst/>
          </a:prstGeom>
          <a:noFill/>
        </p:spPr>
        <p:txBody>
          <a:bodyPr wrap="square" lIns="0" rIns="0" tIns="0" bIns="0" anchor="t">
            <a:spAutoFit/>
          </a:bodyPr>
          <a:lstStyle/>
          <a:p>
            <a:pPr algn="l">
              <a:lnSpc>
                <a:spcPts val="2879"/>
              </a:lnSpc>
            </a:pPr>
            <a:r>
              <a:rPr b="0" sz="1800" i="0" u="none">
                <a:solidFill>
                  <a:srgbClr val="1E293B"/>
                </a:solidFill>
                <a:latin typeface="Noto Sans JP"/>
              </a:rPr>
              <a:t>システム全体を縦に貫く重要な層です。エンタープライズ用途では「このユーザーはこの部署の経費データと、この機密指定ドキュメントしか見られない」といった制御が必須になります。</a:t>
            </a:r>
          </a:p>
        </p:txBody>
      </p:sp>
      <p:sp>
        <p:nvSpPr>
          <p:cNvPr id="4" name="TextBox 3"/>
          <p:cNvSpPr txBox="1"/>
          <p:nvPr/>
        </p:nvSpPr>
        <p:spPr>
          <a:xfrm>
            <a:off x="914400" y="2295346"/>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5" name="TextBox 4"/>
          <p:cNvSpPr txBox="1"/>
          <p:nvPr/>
        </p:nvSpPr>
        <p:spPr>
          <a:xfrm>
            <a:off x="990600" y="2293441"/>
            <a:ext cx="11201400" cy="365670"/>
          </a:xfrm>
          <a:prstGeom prst="rect">
            <a:avLst/>
          </a:prstGeom>
          <a:noFill/>
        </p:spPr>
        <p:txBody>
          <a:bodyPr wrap="none" lIns="76200" rIns="0" tIns="0" bIns="0" anchor="t">
            <a:spAutoFit/>
          </a:bodyPr>
          <a:lstStyle/>
          <a:p>
            <a:pPr algn="l">
              <a:lnSpc>
                <a:spcPts val="2879"/>
              </a:lnSpc>
            </a:pPr>
            <a:r>
              <a:rPr b="1" sz="1800" i="0" u="none">
                <a:solidFill>
                  <a:srgbClr val="1E293B"/>
                </a:solidFill>
                <a:latin typeface="Noto Sans JP"/>
              </a:rPr>
              <a:t>認証・認可:</a:t>
            </a:r>
            <a:r>
              <a:rPr b="0" sz="1800" i="0" u="none">
                <a:solidFill>
                  <a:srgbClr val="1E293B"/>
                </a:solidFill>
                <a:latin typeface="Noto Sans JP"/>
              </a:rPr>
              <a:t> Azure AD (Entra ID) やOktaなどとのSSO連携。</a:t>
            </a:r>
          </a:p>
        </p:txBody>
      </p:sp>
      <p:sp>
        <p:nvSpPr>
          <p:cNvPr id="6" name="TextBox 5"/>
          <p:cNvSpPr txBox="1"/>
          <p:nvPr/>
        </p:nvSpPr>
        <p:spPr>
          <a:xfrm>
            <a:off x="914400" y="2813417"/>
            <a:ext cx="76200" cy="361950"/>
          </a:xfrm>
          <a:prstGeom prst="rect">
            <a:avLst/>
          </a:prstGeom>
          <a:noFill/>
        </p:spPr>
        <p:txBody>
          <a:bodyPr wrap="none" lIns="0" rIns="0" tIns="0" bIns="0" anchor="t">
            <a:spAutoFit/>
          </a:bodyPr>
          <a:lstStyle/>
          <a:p>
            <a:pPr algn="l"/>
            <a:r>
              <a:rPr b="0" sz="1800" i="0" u="none">
                <a:solidFill>
                  <a:srgbClr val="1E293B"/>
                </a:solidFill>
                <a:latin typeface="Noto Sans JP"/>
              </a:rPr>
              <a:t>•</a:t>
            </a:r>
          </a:p>
        </p:txBody>
      </p:sp>
      <p:sp>
        <p:nvSpPr>
          <p:cNvPr id="7" name="TextBox 6"/>
          <p:cNvSpPr txBox="1"/>
          <p:nvPr/>
        </p:nvSpPr>
        <p:spPr>
          <a:xfrm>
            <a:off x="990600" y="2811512"/>
            <a:ext cx="10687050" cy="731341"/>
          </a:xfrm>
          <a:prstGeom prst="rect">
            <a:avLst/>
          </a:prstGeom>
          <a:noFill/>
        </p:spPr>
        <p:txBody>
          <a:bodyPr wrap="square" lIns="76200" rIns="0" tIns="0" bIns="0" anchor="t">
            <a:spAutoFit/>
          </a:bodyPr>
          <a:lstStyle/>
          <a:p>
            <a:pPr algn="l">
              <a:lnSpc>
                <a:spcPts val="2879"/>
              </a:lnSpc>
            </a:pPr>
            <a:r>
              <a:rPr b="1" sz="1800" i="0" u="none">
                <a:solidFill>
                  <a:srgbClr val="1E293B"/>
                </a:solidFill>
                <a:latin typeface="Noto Sans JP"/>
              </a:rPr>
              <a:t>データアクセス制御:</a:t>
            </a:r>
            <a:r>
              <a:rPr b="0" sz="1800" i="0" u="none">
                <a:solidFill>
                  <a:srgbClr val="1E293B"/>
                </a:solidFill>
                <a:latin typeface="Noto Sans JP"/>
              </a:rPr>
              <a:t> SnowflakeのRBAC（ロールベースアクセス制御）や行アクセスポリシー、AWS IAM。アプリケーション側でのメタデータフィルタリング（属性フィルタ）。</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714500"/>
            <a:ext cx="52959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86500" y="1714500"/>
            <a:ext cx="52959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ハイブリッド抽出AIエージェント：開発作業と注意点</a:t>
            </a:r>
          </a:p>
        </p:txBody>
      </p:sp>
      <p:sp>
        <p:nvSpPr>
          <p:cNvPr id="5" name="TextBox 4"/>
          <p:cNvSpPr txBox="1"/>
          <p:nvPr/>
        </p:nvSpPr>
        <p:spPr>
          <a:xfrm>
            <a:off x="609600" y="1333500"/>
            <a:ext cx="5660707" cy="323850"/>
          </a:xfrm>
          <a:prstGeom prst="rect">
            <a:avLst/>
          </a:prstGeom>
          <a:noFill/>
        </p:spPr>
        <p:txBody>
          <a:bodyPr wrap="square" lIns="0" rIns="0" tIns="0" bIns="0" anchor="t">
            <a:spAutoFit/>
          </a:bodyPr>
          <a:lstStyle/>
          <a:p>
            <a:pPr algn="l"/>
            <a:r>
              <a:rPr b="1" sz="1800" i="0" u="none">
                <a:solidFill>
                  <a:srgbClr val="0284C7"/>
                </a:solidFill>
                <a:latin typeface="Noto Sans JP"/>
              </a:rPr>
              <a:t>必要な開発作業</a:t>
            </a:r>
          </a:p>
        </p:txBody>
      </p:sp>
      <p:sp>
        <p:nvSpPr>
          <p:cNvPr id="6" name="TextBox 5"/>
          <p:cNvSpPr txBox="1"/>
          <p:nvPr/>
        </p:nvSpPr>
        <p:spPr>
          <a:xfrm>
            <a:off x="6286500" y="1333500"/>
            <a:ext cx="5660707" cy="323850"/>
          </a:xfrm>
          <a:prstGeom prst="rect">
            <a:avLst/>
          </a:prstGeom>
          <a:noFill/>
        </p:spPr>
        <p:txBody>
          <a:bodyPr wrap="square" lIns="0" rIns="0" tIns="0" bIns="0" anchor="t">
            <a:spAutoFit/>
          </a:bodyPr>
          <a:lstStyle/>
          <a:p>
            <a:pPr algn="l"/>
            <a:r>
              <a:rPr b="1" sz="1800" i="0" u="none">
                <a:solidFill>
                  <a:srgbClr val="EF4444"/>
                </a:solidFill>
                <a:latin typeface="Noto Sans JP"/>
              </a:rPr>
              <a:t>設計上の注意点</a:t>
            </a:r>
          </a:p>
        </p:txBody>
      </p:sp>
      <p:sp>
        <p:nvSpPr>
          <p:cNvPr id="7" name="TextBox 6"/>
          <p:cNvSpPr txBox="1"/>
          <p:nvPr/>
        </p:nvSpPr>
        <p:spPr>
          <a:xfrm>
            <a:off x="771525" y="1885950"/>
            <a:ext cx="66675" cy="304800"/>
          </a:xfrm>
          <a:prstGeom prst="rect">
            <a:avLst/>
          </a:prstGeom>
          <a:noFill/>
        </p:spPr>
        <p:txBody>
          <a:bodyPr wrap="none" lIns="0" rIns="0" tIns="0" bIns="0" anchor="t">
            <a:spAutoFit/>
          </a:bodyPr>
          <a:lstStyle/>
          <a:p>
            <a:pPr algn="l"/>
            <a:r>
              <a:rPr b="0" sz="1500" i="0" u="none">
                <a:solidFill>
                  <a:srgbClr val="1E293B"/>
                </a:solidFill>
                <a:latin typeface="Noto Sans JP"/>
              </a:rPr>
              <a:t>•</a:t>
            </a:r>
          </a:p>
        </p:txBody>
      </p:sp>
      <p:sp>
        <p:nvSpPr>
          <p:cNvPr id="8" name="TextBox 7"/>
          <p:cNvSpPr txBox="1"/>
          <p:nvPr/>
        </p:nvSpPr>
        <p:spPr>
          <a:xfrm>
            <a:off x="838200" y="1885950"/>
            <a:ext cx="5162550" cy="609600"/>
          </a:xfrm>
          <a:prstGeom prst="rect">
            <a:avLst/>
          </a:prstGeom>
          <a:noFill/>
        </p:spPr>
        <p:txBody>
          <a:bodyPr wrap="square" lIns="66675" rIns="0" tIns="0" bIns="0" anchor="t">
            <a:spAutoFit/>
          </a:bodyPr>
          <a:lstStyle/>
          <a:p>
            <a:pPr algn="l">
              <a:lnSpc>
                <a:spcPts val="2400"/>
              </a:lnSpc>
            </a:pPr>
            <a:r>
              <a:rPr b="1" sz="1500" i="0" u="none">
                <a:solidFill>
                  <a:srgbClr val="1E293B"/>
                </a:solidFill>
                <a:latin typeface="Noto Sans JP"/>
              </a:rPr>
              <a:t>構造化データ抽出：</a:t>
            </a:r>
            <a:r>
              <a:rPr b="0" sz="1500" i="0" u="none">
                <a:solidFill>
                  <a:srgbClr val="1E293B"/>
                </a:solidFill>
                <a:latin typeface="Noto Sans JP"/>
              </a:rPr>
              <a:t>セマンティックモデル(YAML等)の定義、Text-to-SQL APIの組み込み。</a:t>
            </a:r>
          </a:p>
        </p:txBody>
      </p:sp>
      <p:sp>
        <p:nvSpPr>
          <p:cNvPr id="9" name="TextBox 8"/>
          <p:cNvSpPr txBox="1"/>
          <p:nvPr/>
        </p:nvSpPr>
        <p:spPr>
          <a:xfrm>
            <a:off x="771525" y="2647950"/>
            <a:ext cx="66675" cy="304800"/>
          </a:xfrm>
          <a:prstGeom prst="rect">
            <a:avLst/>
          </a:prstGeom>
          <a:noFill/>
        </p:spPr>
        <p:txBody>
          <a:bodyPr wrap="none" lIns="0" rIns="0" tIns="0" bIns="0" anchor="t">
            <a:spAutoFit/>
          </a:bodyPr>
          <a:lstStyle/>
          <a:p>
            <a:pPr algn="l"/>
            <a:r>
              <a:rPr b="0" sz="1500" i="0" u="none">
                <a:solidFill>
                  <a:srgbClr val="1E293B"/>
                </a:solidFill>
                <a:latin typeface="Noto Sans JP"/>
              </a:rPr>
              <a:t>•</a:t>
            </a:r>
          </a:p>
        </p:txBody>
      </p:sp>
      <p:sp>
        <p:nvSpPr>
          <p:cNvPr id="10" name="TextBox 9"/>
          <p:cNvSpPr txBox="1"/>
          <p:nvPr/>
        </p:nvSpPr>
        <p:spPr>
          <a:xfrm>
            <a:off x="838200" y="2647950"/>
            <a:ext cx="5162550" cy="609600"/>
          </a:xfrm>
          <a:prstGeom prst="rect">
            <a:avLst/>
          </a:prstGeom>
          <a:noFill/>
        </p:spPr>
        <p:txBody>
          <a:bodyPr wrap="square" lIns="66675" rIns="0" tIns="0" bIns="0" anchor="t">
            <a:spAutoFit/>
          </a:bodyPr>
          <a:lstStyle/>
          <a:p>
            <a:pPr algn="l">
              <a:lnSpc>
                <a:spcPts val="2400"/>
              </a:lnSpc>
            </a:pPr>
            <a:r>
              <a:rPr b="1" sz="1500" i="0" u="none">
                <a:solidFill>
                  <a:srgbClr val="1E293B"/>
                </a:solidFill>
                <a:latin typeface="Noto Sans JP"/>
              </a:rPr>
              <a:t>非構造化データ抽出：</a:t>
            </a:r>
            <a:r>
              <a:rPr b="0" sz="1500" i="0" u="none">
                <a:solidFill>
                  <a:srgbClr val="1E293B"/>
                </a:solidFill>
                <a:latin typeface="Noto Sans JP"/>
              </a:rPr>
              <a:t>ドキュメントのチャンク分割、ベクトル検索エンジンの構築と同期。</a:t>
            </a:r>
          </a:p>
        </p:txBody>
      </p:sp>
      <p:sp>
        <p:nvSpPr>
          <p:cNvPr id="11" name="TextBox 10"/>
          <p:cNvSpPr txBox="1"/>
          <p:nvPr/>
        </p:nvSpPr>
        <p:spPr>
          <a:xfrm>
            <a:off x="771525" y="3409950"/>
            <a:ext cx="66675" cy="304800"/>
          </a:xfrm>
          <a:prstGeom prst="rect">
            <a:avLst/>
          </a:prstGeom>
          <a:noFill/>
        </p:spPr>
        <p:txBody>
          <a:bodyPr wrap="none" lIns="0" rIns="0" tIns="0" bIns="0" anchor="t">
            <a:spAutoFit/>
          </a:bodyPr>
          <a:lstStyle/>
          <a:p>
            <a:pPr algn="l"/>
            <a:r>
              <a:rPr b="0" sz="1500" i="0" u="none">
                <a:solidFill>
                  <a:srgbClr val="1E293B"/>
                </a:solidFill>
                <a:latin typeface="Noto Sans JP"/>
              </a:rPr>
              <a:t>•</a:t>
            </a:r>
          </a:p>
        </p:txBody>
      </p:sp>
      <p:sp>
        <p:nvSpPr>
          <p:cNvPr id="12" name="TextBox 11"/>
          <p:cNvSpPr txBox="1"/>
          <p:nvPr/>
        </p:nvSpPr>
        <p:spPr>
          <a:xfrm>
            <a:off x="838200" y="3409950"/>
            <a:ext cx="5162550" cy="914400"/>
          </a:xfrm>
          <a:prstGeom prst="rect">
            <a:avLst/>
          </a:prstGeom>
          <a:noFill/>
        </p:spPr>
        <p:txBody>
          <a:bodyPr wrap="square" lIns="66675" rIns="0" tIns="0" bIns="0" anchor="t">
            <a:spAutoFit/>
          </a:bodyPr>
          <a:lstStyle/>
          <a:p>
            <a:pPr algn="l">
              <a:lnSpc>
                <a:spcPts val="2400"/>
              </a:lnSpc>
            </a:pPr>
            <a:r>
              <a:rPr b="1" sz="1500" i="0" u="none">
                <a:solidFill>
                  <a:srgbClr val="1E293B"/>
                </a:solidFill>
                <a:latin typeface="Noto Sans JP"/>
              </a:rPr>
              <a:t>エージェント設定：</a:t>
            </a:r>
            <a:r>
              <a:rPr b="0" sz="1500" i="0" u="none">
                <a:solidFill>
                  <a:srgbClr val="1E293B"/>
                </a:solidFill>
                <a:latin typeface="Noto Sans JP"/>
              </a:rPr>
              <a:t>抽出ツールを登録し、「ルールの確認は検索、データ集計はSQLを使う」などのシステムプロンプト（指示文）を作成。</a:t>
            </a:r>
          </a:p>
        </p:txBody>
      </p:sp>
      <p:sp>
        <p:nvSpPr>
          <p:cNvPr id="13" name="TextBox 12"/>
          <p:cNvSpPr txBox="1"/>
          <p:nvPr/>
        </p:nvSpPr>
        <p:spPr>
          <a:xfrm>
            <a:off x="6448425" y="1885950"/>
            <a:ext cx="66675" cy="304800"/>
          </a:xfrm>
          <a:prstGeom prst="rect">
            <a:avLst/>
          </a:prstGeom>
          <a:noFill/>
        </p:spPr>
        <p:txBody>
          <a:bodyPr wrap="none" lIns="0" rIns="0" tIns="0" bIns="0" anchor="t">
            <a:spAutoFit/>
          </a:bodyPr>
          <a:lstStyle/>
          <a:p>
            <a:pPr algn="l"/>
            <a:r>
              <a:rPr b="0" sz="1500" i="0" u="none">
                <a:solidFill>
                  <a:srgbClr val="1E293B"/>
                </a:solidFill>
                <a:latin typeface="Noto Sans JP"/>
              </a:rPr>
              <a:t>•</a:t>
            </a:r>
          </a:p>
        </p:txBody>
      </p:sp>
      <p:sp>
        <p:nvSpPr>
          <p:cNvPr id="14" name="TextBox 13"/>
          <p:cNvSpPr txBox="1"/>
          <p:nvPr/>
        </p:nvSpPr>
        <p:spPr>
          <a:xfrm>
            <a:off x="6515100" y="1885950"/>
            <a:ext cx="5162550" cy="914400"/>
          </a:xfrm>
          <a:prstGeom prst="rect">
            <a:avLst/>
          </a:prstGeom>
          <a:noFill/>
        </p:spPr>
        <p:txBody>
          <a:bodyPr wrap="square" lIns="66675" rIns="0" tIns="0" bIns="0" anchor="t">
            <a:spAutoFit/>
          </a:bodyPr>
          <a:lstStyle/>
          <a:p>
            <a:pPr algn="l">
              <a:lnSpc>
                <a:spcPts val="2400"/>
              </a:lnSpc>
            </a:pPr>
            <a:r>
              <a:rPr b="1" sz="1500" i="0" u="none">
                <a:solidFill>
                  <a:srgbClr val="1E293B"/>
                </a:solidFill>
                <a:latin typeface="Noto Sans JP"/>
              </a:rPr>
              <a:t>構造化データのベクトル化禁止：</a:t>
            </a:r>
            <a:r>
              <a:rPr b="0" sz="1500" i="0" u="none">
                <a:solidFill>
                  <a:srgbClr val="1E293B"/>
                </a:solidFill>
                <a:latin typeface="Noto Sans JP"/>
              </a:rPr>
              <a:t>テーブルをテキスト化すると数値集計や厳密な条件抽出が破綻するため、必ずツールを分離して処理させる。</a:t>
            </a:r>
          </a:p>
        </p:txBody>
      </p:sp>
      <p:sp>
        <p:nvSpPr>
          <p:cNvPr id="15" name="TextBox 14"/>
          <p:cNvSpPr txBox="1"/>
          <p:nvPr/>
        </p:nvSpPr>
        <p:spPr>
          <a:xfrm>
            <a:off x="6448425" y="2952750"/>
            <a:ext cx="66675" cy="304800"/>
          </a:xfrm>
          <a:prstGeom prst="rect">
            <a:avLst/>
          </a:prstGeom>
          <a:noFill/>
        </p:spPr>
        <p:txBody>
          <a:bodyPr wrap="none" lIns="0" rIns="0" tIns="0" bIns="0" anchor="t">
            <a:spAutoFit/>
          </a:bodyPr>
          <a:lstStyle/>
          <a:p>
            <a:pPr algn="l"/>
            <a:r>
              <a:rPr b="0" sz="1500" i="0" u="none">
                <a:solidFill>
                  <a:srgbClr val="1E293B"/>
                </a:solidFill>
                <a:latin typeface="Noto Sans JP"/>
              </a:rPr>
              <a:t>•</a:t>
            </a:r>
          </a:p>
        </p:txBody>
      </p:sp>
      <p:sp>
        <p:nvSpPr>
          <p:cNvPr id="16" name="TextBox 15"/>
          <p:cNvSpPr txBox="1"/>
          <p:nvPr/>
        </p:nvSpPr>
        <p:spPr>
          <a:xfrm>
            <a:off x="6515100" y="2952750"/>
            <a:ext cx="5162550" cy="914400"/>
          </a:xfrm>
          <a:prstGeom prst="rect">
            <a:avLst/>
          </a:prstGeom>
          <a:noFill/>
        </p:spPr>
        <p:txBody>
          <a:bodyPr wrap="square" lIns="66675" rIns="0" tIns="0" bIns="0" anchor="t">
            <a:spAutoFit/>
          </a:bodyPr>
          <a:lstStyle/>
          <a:p>
            <a:pPr algn="l">
              <a:lnSpc>
                <a:spcPts val="2400"/>
              </a:lnSpc>
            </a:pPr>
            <a:r>
              <a:rPr b="1" sz="1500" i="0" u="none">
                <a:solidFill>
                  <a:srgbClr val="1E293B"/>
                </a:solidFill>
                <a:latin typeface="Noto Sans JP"/>
              </a:rPr>
              <a:t>用語辞書によるクリーンなクエリ拡張：</a:t>
            </a:r>
            <a:r>
              <a:rPr b="0" sz="1500" i="0" u="none">
                <a:solidFill>
                  <a:srgbClr val="1E293B"/>
                </a:solidFill>
                <a:latin typeface="Noto Sans JP"/>
              </a:rPr>
              <a:t>ベクトル汚染を防ぐため、メタ文字列を含まないスペース区切りの単語のみで検索クエリを拡張する。</a:t>
            </a:r>
          </a:p>
        </p:txBody>
      </p:sp>
      <p:sp>
        <p:nvSpPr>
          <p:cNvPr id="17" name="TextBox 16"/>
          <p:cNvSpPr txBox="1"/>
          <p:nvPr/>
        </p:nvSpPr>
        <p:spPr>
          <a:xfrm>
            <a:off x="6448425" y="4019550"/>
            <a:ext cx="66675" cy="304800"/>
          </a:xfrm>
          <a:prstGeom prst="rect">
            <a:avLst/>
          </a:prstGeom>
          <a:noFill/>
        </p:spPr>
        <p:txBody>
          <a:bodyPr wrap="none" lIns="0" rIns="0" tIns="0" bIns="0" anchor="t">
            <a:spAutoFit/>
          </a:bodyPr>
          <a:lstStyle/>
          <a:p>
            <a:pPr algn="l"/>
            <a:r>
              <a:rPr b="0" sz="1500" i="0" u="none">
                <a:solidFill>
                  <a:srgbClr val="1E293B"/>
                </a:solidFill>
                <a:latin typeface="Noto Sans JP"/>
              </a:rPr>
              <a:t>•</a:t>
            </a:r>
          </a:p>
        </p:txBody>
      </p:sp>
      <p:sp>
        <p:nvSpPr>
          <p:cNvPr id="18" name="TextBox 17"/>
          <p:cNvSpPr txBox="1"/>
          <p:nvPr/>
        </p:nvSpPr>
        <p:spPr>
          <a:xfrm>
            <a:off x="6515100" y="4019550"/>
            <a:ext cx="5162550" cy="914400"/>
          </a:xfrm>
          <a:prstGeom prst="rect">
            <a:avLst/>
          </a:prstGeom>
          <a:noFill/>
        </p:spPr>
        <p:txBody>
          <a:bodyPr wrap="square" lIns="66675" rIns="0" tIns="0" bIns="0" anchor="t">
            <a:spAutoFit/>
          </a:bodyPr>
          <a:lstStyle/>
          <a:p>
            <a:pPr algn="l">
              <a:lnSpc>
                <a:spcPts val="2400"/>
              </a:lnSpc>
            </a:pPr>
            <a:r>
              <a:rPr b="1" sz="1500" i="0" u="none">
                <a:solidFill>
                  <a:srgbClr val="1E293B"/>
                </a:solidFill>
                <a:latin typeface="Noto Sans JP"/>
              </a:rPr>
              <a:t>無関係なドキュメントの除外：</a:t>
            </a:r>
            <a:r>
              <a:rPr b="0" sz="1500" i="0" u="none">
                <a:solidFill>
                  <a:srgbClr val="1E293B"/>
                </a:solidFill>
                <a:latin typeface="Noto Sans JP"/>
              </a:rPr>
              <a:t>属性フィルタやLLMプロンプトの指示により、質問と無関係な手順書等が根拠に混ざるのを防ぐ。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333500"/>
            <a:ext cx="5286375" cy="4914900"/>
          </a:xfrm>
          <a:prstGeom prst="roundRect">
            <a:avLst>
              <a:gd name="adj" fmla="val 2325"/>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76975" y="1333500"/>
            <a:ext cx="5305425" cy="4914900"/>
          </a:xfrm>
          <a:prstGeom prst="roundRect">
            <a:avLst>
              <a:gd name="adj" fmla="val 2325"/>
            </a:avLst>
          </a:prstGeom>
          <a:solidFill>
            <a:srgbClr val="F0F9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アクセス権限管理：複数環境 vs Snowflake一元管理</a:t>
            </a:r>
          </a:p>
        </p:txBody>
      </p:sp>
      <p:sp>
        <p:nvSpPr>
          <p:cNvPr id="5" name="TextBox 4"/>
          <p:cNvSpPr txBox="1"/>
          <p:nvPr/>
        </p:nvSpPr>
        <p:spPr>
          <a:xfrm>
            <a:off x="923925" y="1647825"/>
            <a:ext cx="6113264" cy="285750"/>
          </a:xfrm>
          <a:prstGeom prst="rect">
            <a:avLst/>
          </a:prstGeom>
          <a:noFill/>
        </p:spPr>
        <p:txBody>
          <a:bodyPr wrap="none" lIns="0" rIns="0" tIns="0" bIns="0" anchor="t">
            <a:spAutoFit/>
          </a:bodyPr>
          <a:lstStyle/>
          <a:p>
            <a:pPr algn="l"/>
            <a:r>
              <a:rPr b="1" sz="1650" i="0" u="none">
                <a:solidFill>
                  <a:srgbClr val="475569"/>
                </a:solidFill>
                <a:latin typeface="Noto Sans JP"/>
              </a:rPr>
              <a:t>複数環境（AWS等）で構築する場合</a:t>
            </a:r>
          </a:p>
        </p:txBody>
      </p:sp>
      <p:sp>
        <p:nvSpPr>
          <p:cNvPr id="6" name="TextBox 5"/>
          <p:cNvSpPr txBox="1"/>
          <p:nvPr/>
        </p:nvSpPr>
        <p:spPr>
          <a:xfrm>
            <a:off x="923925" y="2085975"/>
            <a:ext cx="5822156" cy="228600"/>
          </a:xfrm>
          <a:prstGeom prst="rect">
            <a:avLst/>
          </a:prstGeom>
          <a:noFill/>
        </p:spPr>
        <p:txBody>
          <a:bodyPr wrap="none" lIns="0" rIns="0" tIns="0" bIns="0" anchor="t">
            <a:spAutoFit/>
          </a:bodyPr>
          <a:lstStyle/>
          <a:p>
            <a:pPr algn="l"/>
            <a:r>
              <a:rPr b="1" sz="1350" i="0" u="none">
                <a:solidFill>
                  <a:srgbClr val="EF4444"/>
                </a:solidFill>
                <a:latin typeface="Noto Sans JP"/>
              </a:rPr>
              <a:t>コンポーネントごとの権限マッピング開発が必要</a:t>
            </a:r>
          </a:p>
        </p:txBody>
      </p:sp>
      <p:sp>
        <p:nvSpPr>
          <p:cNvPr id="7" name="TextBox 6"/>
          <p:cNvSpPr txBox="1"/>
          <p:nvPr/>
        </p:nvSpPr>
        <p:spPr>
          <a:xfrm>
            <a:off x="6600825" y="1657350"/>
            <a:ext cx="5591175" cy="285750"/>
          </a:xfrm>
          <a:prstGeom prst="rect">
            <a:avLst/>
          </a:prstGeom>
          <a:noFill/>
        </p:spPr>
        <p:txBody>
          <a:bodyPr wrap="none" lIns="0" rIns="0" tIns="0" bIns="0" anchor="t">
            <a:spAutoFit/>
          </a:bodyPr>
          <a:lstStyle/>
          <a:p>
            <a:pPr algn="l"/>
            <a:r>
              <a:rPr b="1" sz="1650" i="0" u="none">
                <a:solidFill>
                  <a:srgbClr val="0369A1"/>
                </a:solidFill>
                <a:latin typeface="Noto Sans JP"/>
              </a:rPr>
              <a:t>Snowflakeで一元管理する場合</a:t>
            </a:r>
          </a:p>
        </p:txBody>
      </p:sp>
      <p:sp>
        <p:nvSpPr>
          <p:cNvPr id="8" name="TextBox 7"/>
          <p:cNvSpPr txBox="1"/>
          <p:nvPr/>
        </p:nvSpPr>
        <p:spPr>
          <a:xfrm>
            <a:off x="6600825" y="2095500"/>
            <a:ext cx="5591175" cy="228600"/>
          </a:xfrm>
          <a:prstGeom prst="rect">
            <a:avLst/>
          </a:prstGeom>
          <a:noFill/>
        </p:spPr>
        <p:txBody>
          <a:bodyPr wrap="none" lIns="0" rIns="0" tIns="0" bIns="0" anchor="t">
            <a:spAutoFit/>
          </a:bodyPr>
          <a:lstStyle/>
          <a:p>
            <a:pPr algn="l"/>
            <a:r>
              <a:rPr b="1" sz="1350" i="0" u="none">
                <a:solidFill>
                  <a:srgbClr val="0284C7"/>
                </a:solidFill>
                <a:latin typeface="Noto Sans JP"/>
              </a:rPr>
              <a:t>設定のみで全層のアクセス制御が完了</a:t>
            </a:r>
          </a:p>
        </p:txBody>
      </p:sp>
      <p:sp>
        <p:nvSpPr>
          <p:cNvPr id="9" name="TextBox 8"/>
          <p:cNvSpPr txBox="1"/>
          <p:nvPr/>
        </p:nvSpPr>
        <p:spPr>
          <a:xfrm>
            <a:off x="1095375" y="2542222"/>
            <a:ext cx="57150" cy="276225"/>
          </a:xfrm>
          <a:prstGeom prst="rect">
            <a:avLst/>
          </a:prstGeom>
          <a:noFill/>
        </p:spPr>
        <p:txBody>
          <a:bodyPr wrap="none" lIns="0" rIns="0" tIns="0" bIns="0" anchor="t">
            <a:spAutoFit/>
          </a:bodyPr>
          <a:lstStyle/>
          <a:p>
            <a:pPr algn="l"/>
            <a:r>
              <a:rPr b="0" sz="1350" i="0" u="none">
                <a:solidFill>
                  <a:srgbClr val="1E293B"/>
                </a:solidFill>
                <a:latin typeface="Noto Sans JP"/>
              </a:rPr>
              <a:t>•</a:t>
            </a:r>
          </a:p>
        </p:txBody>
      </p:sp>
      <p:sp>
        <p:nvSpPr>
          <p:cNvPr id="10" name="TextBox 9"/>
          <p:cNvSpPr txBox="1"/>
          <p:nvPr/>
        </p:nvSpPr>
        <p:spPr>
          <a:xfrm>
            <a:off x="1152525" y="2543175"/>
            <a:ext cx="4524375" cy="822870"/>
          </a:xfrm>
          <a:prstGeom prst="rect">
            <a:avLst/>
          </a:prstGeom>
          <a:noFill/>
        </p:spPr>
        <p:txBody>
          <a:bodyPr wrap="square" lIns="57150" rIns="0" tIns="0" bIns="0" anchor="t">
            <a:spAutoFit/>
          </a:bodyPr>
          <a:lstStyle/>
          <a:p>
            <a:pPr algn="l">
              <a:lnSpc>
                <a:spcPts val="2160"/>
              </a:lnSpc>
            </a:pPr>
            <a:r>
              <a:rPr b="0" sz="1350" i="0" u="none">
                <a:solidFill>
                  <a:srgbClr val="1E293B"/>
                </a:solidFill>
                <a:latin typeface="Noto Sans JP"/>
              </a:rPr>
              <a:t>Entra IDのグループ情報を、AWS IAM、S3ポリシー、OpenSearch ACL、RDS権限等へ同期する仕組みをそれぞれ開発。</a:t>
            </a:r>
          </a:p>
        </p:txBody>
      </p:sp>
      <p:sp>
        <p:nvSpPr>
          <p:cNvPr id="11" name="TextBox 10"/>
          <p:cNvSpPr txBox="1"/>
          <p:nvPr/>
        </p:nvSpPr>
        <p:spPr>
          <a:xfrm>
            <a:off x="1095375" y="3479393"/>
            <a:ext cx="57150" cy="276225"/>
          </a:xfrm>
          <a:prstGeom prst="rect">
            <a:avLst/>
          </a:prstGeom>
          <a:noFill/>
        </p:spPr>
        <p:txBody>
          <a:bodyPr wrap="none" lIns="0" rIns="0" tIns="0" bIns="0" anchor="t">
            <a:spAutoFit/>
          </a:bodyPr>
          <a:lstStyle/>
          <a:p>
            <a:pPr algn="l"/>
            <a:r>
              <a:rPr b="0" sz="1350" i="0" u="none">
                <a:solidFill>
                  <a:srgbClr val="1E293B"/>
                </a:solidFill>
                <a:latin typeface="Noto Sans JP"/>
              </a:rPr>
              <a:t>•</a:t>
            </a:r>
          </a:p>
        </p:txBody>
      </p:sp>
      <p:sp>
        <p:nvSpPr>
          <p:cNvPr id="12" name="TextBox 11"/>
          <p:cNvSpPr txBox="1"/>
          <p:nvPr/>
        </p:nvSpPr>
        <p:spPr>
          <a:xfrm>
            <a:off x="1152525" y="3480345"/>
            <a:ext cx="4524375" cy="548580"/>
          </a:xfrm>
          <a:prstGeom prst="rect">
            <a:avLst/>
          </a:prstGeom>
          <a:noFill/>
        </p:spPr>
        <p:txBody>
          <a:bodyPr wrap="square" lIns="57150" rIns="0" tIns="0" bIns="0" anchor="t">
            <a:spAutoFit/>
          </a:bodyPr>
          <a:lstStyle/>
          <a:p>
            <a:pPr algn="l">
              <a:lnSpc>
                <a:spcPts val="2160"/>
              </a:lnSpc>
            </a:pPr>
            <a:r>
              <a:rPr b="0" sz="1350" i="0" u="none">
                <a:solidFill>
                  <a:srgbClr val="1E293B"/>
                </a:solidFill>
                <a:latin typeface="Noto Sans JP"/>
              </a:rPr>
              <a:t>検索時にユーザー属性をもとにしたアプリケーション側でのメタデータフィルタリング実装が不可欠。</a:t>
            </a:r>
          </a:p>
        </p:txBody>
      </p:sp>
      <p:sp>
        <p:nvSpPr>
          <p:cNvPr id="13" name="TextBox 12"/>
          <p:cNvSpPr txBox="1"/>
          <p:nvPr/>
        </p:nvSpPr>
        <p:spPr>
          <a:xfrm>
            <a:off x="1095375" y="4142273"/>
            <a:ext cx="57150" cy="276225"/>
          </a:xfrm>
          <a:prstGeom prst="rect">
            <a:avLst/>
          </a:prstGeom>
          <a:noFill/>
        </p:spPr>
        <p:txBody>
          <a:bodyPr wrap="none" lIns="0" rIns="0" tIns="0" bIns="0" anchor="t">
            <a:spAutoFit/>
          </a:bodyPr>
          <a:lstStyle/>
          <a:p>
            <a:pPr algn="l"/>
            <a:r>
              <a:rPr b="0" sz="1350" i="0" u="none">
                <a:solidFill>
                  <a:srgbClr val="1E293B"/>
                </a:solidFill>
                <a:latin typeface="Noto Sans JP"/>
              </a:rPr>
              <a:t>•</a:t>
            </a:r>
          </a:p>
        </p:txBody>
      </p:sp>
      <p:sp>
        <p:nvSpPr>
          <p:cNvPr id="14" name="TextBox 13"/>
          <p:cNvSpPr txBox="1"/>
          <p:nvPr/>
        </p:nvSpPr>
        <p:spPr>
          <a:xfrm>
            <a:off x="1152525" y="4143226"/>
            <a:ext cx="4524375" cy="548580"/>
          </a:xfrm>
          <a:prstGeom prst="rect">
            <a:avLst/>
          </a:prstGeom>
          <a:noFill/>
        </p:spPr>
        <p:txBody>
          <a:bodyPr wrap="square" lIns="57150" rIns="0" tIns="0" bIns="0" anchor="t">
            <a:spAutoFit/>
          </a:bodyPr>
          <a:lstStyle/>
          <a:p>
            <a:pPr algn="l">
              <a:lnSpc>
                <a:spcPts val="2160"/>
              </a:lnSpc>
            </a:pPr>
            <a:r>
              <a:rPr b="0" sz="1350" i="0" u="none">
                <a:solidFill>
                  <a:srgbClr val="1E293B"/>
                </a:solidFill>
                <a:latin typeface="Noto Sans JP"/>
              </a:rPr>
              <a:t>権限漏れや設定ミスのリスクが高く、セキュリティ担保の保守コストが膨大。</a:t>
            </a:r>
          </a:p>
        </p:txBody>
      </p:sp>
      <p:sp>
        <p:nvSpPr>
          <p:cNvPr id="15" name="TextBox 14"/>
          <p:cNvSpPr txBox="1"/>
          <p:nvPr/>
        </p:nvSpPr>
        <p:spPr>
          <a:xfrm>
            <a:off x="6772275" y="2551747"/>
            <a:ext cx="57150" cy="276225"/>
          </a:xfrm>
          <a:prstGeom prst="rect">
            <a:avLst/>
          </a:prstGeom>
          <a:noFill/>
        </p:spPr>
        <p:txBody>
          <a:bodyPr wrap="none" lIns="0" rIns="0" tIns="0" bIns="0" anchor="t">
            <a:spAutoFit/>
          </a:bodyPr>
          <a:lstStyle/>
          <a:p>
            <a:pPr algn="l"/>
            <a:r>
              <a:rPr b="0" sz="1350" i="0" u="none">
                <a:solidFill>
                  <a:srgbClr val="1E293B"/>
                </a:solidFill>
                <a:latin typeface="Noto Sans JP"/>
              </a:rPr>
              <a:t>•</a:t>
            </a:r>
          </a:p>
        </p:txBody>
      </p:sp>
      <p:sp>
        <p:nvSpPr>
          <p:cNvPr id="16" name="TextBox 15"/>
          <p:cNvSpPr txBox="1"/>
          <p:nvPr/>
        </p:nvSpPr>
        <p:spPr>
          <a:xfrm>
            <a:off x="6829425" y="2552700"/>
            <a:ext cx="4524375" cy="548580"/>
          </a:xfrm>
          <a:prstGeom prst="rect">
            <a:avLst/>
          </a:prstGeom>
          <a:noFill/>
        </p:spPr>
        <p:txBody>
          <a:bodyPr wrap="square" lIns="57150" rIns="0" tIns="0" bIns="0" anchor="t">
            <a:spAutoFit/>
          </a:bodyPr>
          <a:lstStyle/>
          <a:p>
            <a:pPr algn="l">
              <a:lnSpc>
                <a:spcPts val="2160"/>
              </a:lnSpc>
            </a:pPr>
            <a:r>
              <a:rPr b="0" sz="1350" i="0" u="none">
                <a:solidFill>
                  <a:srgbClr val="1E293B"/>
                </a:solidFill>
                <a:latin typeface="Noto Sans JP"/>
              </a:rPr>
              <a:t>Entra IDとSnowflakeをSCIMプロビジョニング等で連携し、ユーザーとグループ（ロール）を自動同期。</a:t>
            </a:r>
          </a:p>
        </p:txBody>
      </p:sp>
      <p:sp>
        <p:nvSpPr>
          <p:cNvPr id="17" name="TextBox 16"/>
          <p:cNvSpPr txBox="1"/>
          <p:nvPr/>
        </p:nvSpPr>
        <p:spPr>
          <a:xfrm>
            <a:off x="6772275" y="3214627"/>
            <a:ext cx="57150" cy="276225"/>
          </a:xfrm>
          <a:prstGeom prst="rect">
            <a:avLst/>
          </a:prstGeom>
          <a:noFill/>
        </p:spPr>
        <p:txBody>
          <a:bodyPr wrap="none" lIns="0" rIns="0" tIns="0" bIns="0" anchor="t">
            <a:spAutoFit/>
          </a:bodyPr>
          <a:lstStyle/>
          <a:p>
            <a:pPr algn="l"/>
            <a:r>
              <a:rPr b="0" sz="1350" i="0" u="none">
                <a:solidFill>
                  <a:srgbClr val="1E293B"/>
                </a:solidFill>
                <a:latin typeface="Noto Sans JP"/>
              </a:rPr>
              <a:t>•</a:t>
            </a:r>
          </a:p>
        </p:txBody>
      </p:sp>
      <p:sp>
        <p:nvSpPr>
          <p:cNvPr id="18" name="TextBox 17"/>
          <p:cNvSpPr txBox="1"/>
          <p:nvPr/>
        </p:nvSpPr>
        <p:spPr>
          <a:xfrm>
            <a:off x="6829425" y="3215580"/>
            <a:ext cx="4524375" cy="548580"/>
          </a:xfrm>
          <a:prstGeom prst="rect">
            <a:avLst/>
          </a:prstGeom>
          <a:noFill/>
        </p:spPr>
        <p:txBody>
          <a:bodyPr wrap="square" lIns="57150" rIns="0" tIns="0" bIns="0" anchor="t">
            <a:spAutoFit/>
          </a:bodyPr>
          <a:lstStyle/>
          <a:p>
            <a:pPr algn="l">
              <a:lnSpc>
                <a:spcPts val="2160"/>
              </a:lnSpc>
            </a:pPr>
            <a:r>
              <a:rPr b="0" sz="1350" i="0" u="none">
                <a:solidFill>
                  <a:srgbClr val="1E293B"/>
                </a:solidFill>
                <a:latin typeface="Noto Sans JP"/>
              </a:rPr>
              <a:t>Snowflake内でRBAC（ロールベースアクセス制御）と行アクセスポリシーを設定するだけで完了。</a:t>
            </a:r>
          </a:p>
        </p:txBody>
      </p:sp>
      <p:sp>
        <p:nvSpPr>
          <p:cNvPr id="19" name="TextBox 18"/>
          <p:cNvSpPr txBox="1"/>
          <p:nvPr/>
        </p:nvSpPr>
        <p:spPr>
          <a:xfrm>
            <a:off x="6772275" y="3877508"/>
            <a:ext cx="57150" cy="276225"/>
          </a:xfrm>
          <a:prstGeom prst="rect">
            <a:avLst/>
          </a:prstGeom>
          <a:noFill/>
        </p:spPr>
        <p:txBody>
          <a:bodyPr wrap="none" lIns="0" rIns="0" tIns="0" bIns="0" anchor="t">
            <a:spAutoFit/>
          </a:bodyPr>
          <a:lstStyle/>
          <a:p>
            <a:pPr algn="l"/>
            <a:r>
              <a:rPr b="0" sz="1350" i="0" u="none">
                <a:solidFill>
                  <a:srgbClr val="1E293B"/>
                </a:solidFill>
                <a:latin typeface="Noto Sans JP"/>
              </a:rPr>
              <a:t>•</a:t>
            </a:r>
          </a:p>
        </p:txBody>
      </p:sp>
      <p:sp>
        <p:nvSpPr>
          <p:cNvPr id="20" name="TextBox 19"/>
          <p:cNvSpPr txBox="1"/>
          <p:nvPr/>
        </p:nvSpPr>
        <p:spPr>
          <a:xfrm>
            <a:off x="6829425" y="3878460"/>
            <a:ext cx="4524375" cy="548580"/>
          </a:xfrm>
          <a:prstGeom prst="rect">
            <a:avLst/>
          </a:prstGeom>
          <a:noFill/>
        </p:spPr>
        <p:txBody>
          <a:bodyPr wrap="square" lIns="57150" rIns="0" tIns="0" bIns="0" anchor="t">
            <a:spAutoFit/>
          </a:bodyPr>
          <a:lstStyle/>
          <a:p>
            <a:pPr algn="l">
              <a:lnSpc>
                <a:spcPts val="2160"/>
              </a:lnSpc>
            </a:pPr>
            <a:r>
              <a:rPr b="0" sz="1350" i="0" u="none">
                <a:solidFill>
                  <a:srgbClr val="1E293B"/>
                </a:solidFill>
                <a:latin typeface="Noto Sans JP"/>
              </a:rPr>
              <a:t>構造化データ（テーブル）も非構造化データ（チャンク）も、同一の権限モデルで安全・一元的に制御可能。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609600"/>
            <a:ext cx="11582400" cy="419100"/>
          </a:xfrm>
          <a:prstGeom prst="rect">
            <a:avLst/>
          </a:prstGeom>
          <a:noFill/>
        </p:spPr>
        <p:txBody>
          <a:bodyPr wrap="none" lIns="0" rIns="0" tIns="0" bIns="0" anchor="t">
            <a:spAutoFit/>
          </a:bodyPr>
          <a:lstStyle/>
          <a:p>
            <a:pPr algn="l"/>
            <a:r>
              <a:rPr b="1" sz="2400" i="0" u="none">
                <a:solidFill>
                  <a:srgbClr val="0F172A"/>
                </a:solidFill>
                <a:latin typeface="Noto Sans JP"/>
              </a:rPr>
              <a:t>Snowflake採用の最大の強み（複数環境構築との比較）</a:t>
            </a:r>
          </a:p>
        </p:txBody>
      </p:sp>
      <p:sp>
        <p:nvSpPr>
          <p:cNvPr id="3" name="TextBox 2"/>
          <p:cNvSpPr txBox="1"/>
          <p:nvPr/>
        </p:nvSpPr>
        <p:spPr>
          <a:xfrm>
            <a:off x="838200" y="1719917"/>
            <a:ext cx="76200" cy="333375"/>
          </a:xfrm>
          <a:prstGeom prst="rect">
            <a:avLst/>
          </a:prstGeom>
          <a:noFill/>
        </p:spPr>
        <p:txBody>
          <a:bodyPr wrap="none" lIns="0" rIns="0" tIns="0" bIns="0" anchor="t">
            <a:spAutoFit/>
          </a:bodyPr>
          <a:lstStyle/>
          <a:p>
            <a:pPr algn="l"/>
            <a:r>
              <a:rPr b="0" sz="1650" i="0" u="none">
                <a:solidFill>
                  <a:srgbClr val="1E293B"/>
                </a:solidFill>
                <a:latin typeface="Noto Sans JP"/>
              </a:rPr>
              <a:t>•</a:t>
            </a:r>
          </a:p>
        </p:txBody>
      </p:sp>
      <p:sp>
        <p:nvSpPr>
          <p:cNvPr id="4" name="TextBox 3"/>
          <p:cNvSpPr txBox="1"/>
          <p:nvPr/>
        </p:nvSpPr>
        <p:spPr>
          <a:xfrm>
            <a:off x="914400" y="1718964"/>
            <a:ext cx="10763250" cy="1340643"/>
          </a:xfrm>
          <a:prstGeom prst="rect">
            <a:avLst/>
          </a:prstGeom>
          <a:noFill/>
        </p:spPr>
        <p:txBody>
          <a:bodyPr wrap="square" lIns="76200" rIns="0" tIns="0" bIns="0" anchor="t">
            <a:spAutoFit/>
          </a:bodyPr>
          <a:lstStyle/>
          <a:p>
            <a:pPr algn="l">
              <a:lnSpc>
                <a:spcPts val="2640"/>
              </a:lnSpc>
            </a:pPr>
            <a:r>
              <a:rPr b="1" sz="1650" i="0" u="none">
                <a:solidFill>
                  <a:srgbClr val="0284C7"/>
                </a:solidFill>
                <a:latin typeface="Noto Sans JP"/>
              </a:rPr>
              <a:t>インフラ管理ゼロの自動差分更新パイプライン：</a:t>
            </a:r>
            <a:r>
              <a:t>
</a:t>
            </a:r>
            <a:r>
              <a:rPr b="0" sz="1650" i="0" u="none">
                <a:solidFill>
                  <a:srgbClr val="1E293B"/>
                </a:solidFill>
                <a:latin typeface="Noto Sans JP"/>
              </a:rPr>
              <a:t> AWS等で自前構築する場合、パース・チャンク化・差分検知バッチ・ベクトルDB同期等の開発と運用が重荷になります。SnowflakeならTaskとStreamを設定するだけで、ストレージ上のファイル更新が自動でインデックスまで同期されます。</a:t>
            </a:r>
          </a:p>
        </p:txBody>
      </p:sp>
      <p:sp>
        <p:nvSpPr>
          <p:cNvPr id="5" name="TextBox 4"/>
          <p:cNvSpPr txBox="1"/>
          <p:nvPr/>
        </p:nvSpPr>
        <p:spPr>
          <a:xfrm>
            <a:off x="838200" y="3289161"/>
            <a:ext cx="76200" cy="333375"/>
          </a:xfrm>
          <a:prstGeom prst="rect">
            <a:avLst/>
          </a:prstGeom>
          <a:noFill/>
        </p:spPr>
        <p:txBody>
          <a:bodyPr wrap="none" lIns="0" rIns="0" tIns="0" bIns="0" anchor="t">
            <a:spAutoFit/>
          </a:bodyPr>
          <a:lstStyle/>
          <a:p>
            <a:pPr algn="l"/>
            <a:r>
              <a:rPr b="0" sz="1650" i="0" u="none">
                <a:solidFill>
                  <a:srgbClr val="1E293B"/>
                </a:solidFill>
                <a:latin typeface="Noto Sans JP"/>
              </a:rPr>
              <a:t>•</a:t>
            </a:r>
          </a:p>
        </p:txBody>
      </p:sp>
      <p:sp>
        <p:nvSpPr>
          <p:cNvPr id="6" name="TextBox 5"/>
          <p:cNvSpPr txBox="1"/>
          <p:nvPr/>
        </p:nvSpPr>
        <p:spPr>
          <a:xfrm>
            <a:off x="914400" y="3288208"/>
            <a:ext cx="10763250" cy="1340643"/>
          </a:xfrm>
          <a:prstGeom prst="rect">
            <a:avLst/>
          </a:prstGeom>
          <a:noFill/>
        </p:spPr>
        <p:txBody>
          <a:bodyPr wrap="square" lIns="76200" rIns="0" tIns="0" bIns="0" anchor="t">
            <a:spAutoFit/>
          </a:bodyPr>
          <a:lstStyle/>
          <a:p>
            <a:pPr algn="l">
              <a:lnSpc>
                <a:spcPts val="2640"/>
              </a:lnSpc>
            </a:pPr>
            <a:r>
              <a:rPr b="1" sz="1650" i="0" u="none">
                <a:solidFill>
                  <a:srgbClr val="0284C7"/>
                </a:solidFill>
                <a:latin typeface="Noto Sans JP"/>
              </a:rPr>
              <a:t>既存BI / セマンティックモデルとのシームレスな統合：</a:t>
            </a:r>
            <a:r>
              <a:t>
</a:t>
            </a:r>
            <a:r>
              <a:rPr b="0" sz="1650" i="0" u="none">
                <a:solidFill>
                  <a:srgbClr val="1E293B"/>
                </a:solidFill>
                <a:latin typeface="Noto Sans JP"/>
              </a:rPr>
              <a:t> 外部ツールを繋ぐとBIダッシュボードとAIエージェントのデータ定義が分断しがちです。SnowflakeならDWH上で一元管理されたセマンティックモデル（YAML）を直接参照。ビジネスユーザーが日常的に見ているBIと同じ指標・ロジック（Single Source of Truth）を用いて、AIが大規模データを高速集計できます。</a:t>
            </a:r>
          </a:p>
        </p:txBody>
      </p:sp>
      <p:sp>
        <p:nvSpPr>
          <p:cNvPr id="7" name="TextBox 6"/>
          <p:cNvSpPr txBox="1"/>
          <p:nvPr/>
        </p:nvSpPr>
        <p:spPr>
          <a:xfrm>
            <a:off x="838200" y="4858404"/>
            <a:ext cx="76200" cy="333375"/>
          </a:xfrm>
          <a:prstGeom prst="rect">
            <a:avLst/>
          </a:prstGeom>
          <a:noFill/>
        </p:spPr>
        <p:txBody>
          <a:bodyPr wrap="none" lIns="0" rIns="0" tIns="0" bIns="0" anchor="t">
            <a:spAutoFit/>
          </a:bodyPr>
          <a:lstStyle/>
          <a:p>
            <a:pPr algn="l"/>
            <a:r>
              <a:rPr b="0" sz="1650" i="0" u="none">
                <a:solidFill>
                  <a:srgbClr val="1E293B"/>
                </a:solidFill>
                <a:latin typeface="Noto Sans JP"/>
              </a:rPr>
              <a:t>•</a:t>
            </a:r>
          </a:p>
        </p:txBody>
      </p:sp>
      <p:sp>
        <p:nvSpPr>
          <p:cNvPr id="8" name="TextBox 7"/>
          <p:cNvSpPr txBox="1"/>
          <p:nvPr/>
        </p:nvSpPr>
        <p:spPr>
          <a:xfrm>
            <a:off x="914400" y="4857452"/>
            <a:ext cx="10763250" cy="1005482"/>
          </a:xfrm>
          <a:prstGeom prst="rect">
            <a:avLst/>
          </a:prstGeom>
          <a:noFill/>
        </p:spPr>
        <p:txBody>
          <a:bodyPr wrap="square" lIns="76200" rIns="0" tIns="0" bIns="0" anchor="t">
            <a:spAutoFit/>
          </a:bodyPr>
          <a:lstStyle/>
          <a:p>
            <a:pPr algn="l">
              <a:lnSpc>
                <a:spcPts val="2640"/>
              </a:lnSpc>
            </a:pPr>
            <a:r>
              <a:rPr b="1" sz="1650" i="0" u="none">
                <a:solidFill>
                  <a:srgbClr val="0284C7"/>
                </a:solidFill>
                <a:latin typeface="Noto Sans JP"/>
              </a:rPr>
              <a:t>用語辞書（マスター）の1ソース多重活用：</a:t>
            </a:r>
            <a:r>
              <a:t>
</a:t>
            </a:r>
            <a:r>
              <a:rPr b="0" sz="1650" i="0" u="none">
                <a:solidFill>
                  <a:srgbClr val="1E293B"/>
                </a:solidFill>
                <a:latin typeface="Noto Sans JP"/>
              </a:rPr>
              <a:t> 単一の辞書テーブルを「チャンクの自動タグ付け」「検索時のクエリ拡張」「Text-to-SQLの同義語定義」に直接連動させることができ、社内用語の揺らぎによる検索漏れを強固に防ぎます。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867400" y="4214812"/>
            <a:ext cx="45720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86789" y="2605087"/>
            <a:ext cx="3618420" cy="619125"/>
          </a:xfrm>
          <a:prstGeom prst="rect">
            <a:avLst/>
          </a:prstGeom>
          <a:noFill/>
        </p:spPr>
        <p:txBody>
          <a:bodyPr wrap="none" lIns="0" rIns="0" tIns="0" bIns="0" anchor="t">
            <a:spAutoFit/>
          </a:bodyPr>
          <a:lstStyle/>
          <a:p>
            <a:pPr algn="ctr"/>
            <a:r>
              <a:rPr b="1" sz="4200" i="0" u="none">
                <a:solidFill>
                  <a:srgbClr val="FFFFFF"/>
                </a:solidFill>
                <a:latin typeface="Noto Sans JP"/>
              </a:rPr>
              <a:t>Next Steps</a:t>
            </a:r>
          </a:p>
        </p:txBody>
      </p:sp>
      <p:sp>
        <p:nvSpPr>
          <p:cNvPr id="4" name="TextBox 3"/>
          <p:cNvSpPr txBox="1"/>
          <p:nvPr/>
        </p:nvSpPr>
        <p:spPr>
          <a:xfrm>
            <a:off x="3841625" y="3452812"/>
            <a:ext cx="4508748" cy="304800"/>
          </a:xfrm>
          <a:prstGeom prst="rect">
            <a:avLst/>
          </a:prstGeom>
          <a:noFill/>
        </p:spPr>
        <p:txBody>
          <a:bodyPr wrap="none" lIns="0" rIns="0" tIns="0" bIns="0" anchor="t">
            <a:spAutoFit/>
          </a:bodyPr>
          <a:lstStyle/>
          <a:p>
            <a:pPr algn="ctr"/>
            <a:r>
              <a:rPr b="0" sz="1800" i="0" u="none">
                <a:solidFill>
                  <a:srgbClr val="94A3B8"/>
                </a:solidFill>
                <a:latin typeface="Noto Sans JP"/>
              </a:rPr>
              <a:t>API疎結合による共同検証の開始。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